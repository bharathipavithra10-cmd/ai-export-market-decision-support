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Play"/>
      <p:regular r:id="rId23"/>
      <p:bold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hGW6aCkpHZby2mKtNKnyKTq4g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Student name - 2 marks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Mentor’s name - 2 marks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Topic name - 2 marks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-&gt; automated grading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a2679bc0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fa2679bc0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a2679bc01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a2679bc01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9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27" name="Google Shape;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9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0" name="Google Shape;40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" name="Google Shape;4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9" name="Google Shape;4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6" name="Google Shape;56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p1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9" name="Google Shape;59;p1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0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20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2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822960" y="1508760"/>
            <a:ext cx="7406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AI-Driven Export Market Decision Support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2212848"/>
            <a:ext cx="7406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for Indian Exporters Using Public Trade and Macroeconomic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6FA8"/>
                </a:solidFill>
                <a:latin typeface="Arial"/>
                <a:ea typeface="Arial"/>
                <a:cs typeface="Arial"/>
                <a:sym typeface="Arial"/>
              </a:rPr>
              <a:t>Final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34564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Pavithra Bharathi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22960" y="37947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Mentor: Vikas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729450" y="1224666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b="1" lang="en-US" sz="17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sz="1700"/>
          </a:p>
        </p:txBody>
      </p:sp>
      <p:sp>
        <p:nvSpPr>
          <p:cNvPr id="96" name="Google Shape;96;p2"/>
          <p:cNvSpPr/>
          <p:nvPr/>
        </p:nvSpPr>
        <p:spPr>
          <a:xfrm>
            <a:off x="854400" y="1657325"/>
            <a:ext cx="74163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854400" y="1657325"/>
            <a:ext cx="51300" cy="5433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14224" y="1742425"/>
            <a:ext cx="77613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75" lIns="89000" spcFirstLastPara="1" rIns="89000" wrap="square" tIns="44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168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36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22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Develop decision-support system to identify and prioritize high-potential country–commodity export opportunities for Indian exporters.</a:t>
            </a:r>
            <a:endParaRPr sz="1363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t/>
            </a:r>
            <a:endParaRPr b="1" sz="1268">
              <a:solidFill>
                <a:srgbClr val="0D22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54400" y="2333213"/>
            <a:ext cx="74163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854400" y="2333213"/>
            <a:ext cx="51300" cy="5433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014233" y="2418311"/>
            <a:ext cx="71286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75" lIns="89000" spcFirstLastPara="1" rIns="89000" wrap="square" tIns="44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8"/>
              <a:buFont typeface="Arial"/>
              <a:buNone/>
            </a:pPr>
            <a:r>
              <a:rPr b="1" i="0" lang="en-US" sz="1268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0" i="0" lang="en-US" sz="1122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Public trade and economic data are fragmented; market size alone does not reveal a defensible opportunity.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854400" y="3009100"/>
            <a:ext cx="74163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854400" y="3009100"/>
            <a:ext cx="51300" cy="5433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4233" y="3094199"/>
            <a:ext cx="71286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75" lIns="89000" spcFirstLastPara="1" rIns="89000" wrap="square" tIns="44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8"/>
              <a:buFont typeface="Arial"/>
              <a:buNone/>
            </a:pPr>
            <a:r>
              <a:rPr b="1" i="0" lang="en-US" sz="1268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0" i="0" lang="en-US" sz="1122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TradeStat + UN Comtrade + World Bank; 6,040 analytical rows and 231 final country–commodity opportunities.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54400" y="3684988"/>
            <a:ext cx="74163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54400" y="3684988"/>
            <a:ext cx="51300" cy="5433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14233" y="3770086"/>
            <a:ext cx="71286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75" lIns="89000" spcFirstLastPara="1" rIns="89000" wrap="square" tIns="44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8"/>
              <a:buFont typeface="Arial"/>
              <a:buNone/>
            </a:pPr>
            <a:r>
              <a:rPr b="1" i="0" lang="en-US" sz="1268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Best result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rPr b="0" i="0" lang="en-US" sz="1122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Random Forest achieved RMSE 0.6299 and R² 0.9224 on the log target — 41.79% lower RMSE than Linear Regression.</a:t>
            </a:r>
            <a:endParaRPr b="0" i="0" sz="14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54400" y="4360876"/>
            <a:ext cx="74163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54400" y="4360876"/>
            <a:ext cx="51300" cy="543300"/>
          </a:xfrm>
          <a:prstGeom prst="rect">
            <a:avLst/>
          </a:prstGeom>
          <a:solidFill>
            <a:srgbClr val="0D223B"/>
          </a:solidFill>
          <a:ln>
            <a:noFill/>
          </a:ln>
          <a:effectLst>
            <a:outerShdw blurRad="38936" rotWithShape="0" dir="5400000" dist="22388">
              <a:srgbClr val="000000">
                <a:alpha val="34902"/>
              </a:srgbClr>
            </a:outerShdw>
          </a:effectLst>
        </p:spPr>
        <p:txBody>
          <a:bodyPr anchorCtr="0" anchor="ctr" bIns="44475" lIns="89000" spcFirstLastPara="1" rIns="89000" wrap="square" tIns="44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2"/>
              <a:buFont typeface="Arial"/>
              <a:buNone/>
            </a:pPr>
            <a:r>
              <a:t/>
            </a:r>
            <a:endParaRPr b="0" i="0" sz="185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14233" y="4445974"/>
            <a:ext cx="71286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75" lIns="89000" spcFirstLastPara="1" rIns="89000" wrap="square" tIns="44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268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Business use</a:t>
            </a:r>
            <a:endParaRPr sz="1463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22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EMAS turns six market dimensions into prioritized, explainable recommendations for export market selection.</a:t>
            </a:r>
            <a:endParaRPr sz="1463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2"/>
              <a:buFont typeface="Arial"/>
              <a:buNone/>
            </a:pPr>
            <a:r>
              <a:t/>
            </a:r>
            <a:endParaRPr b="1" sz="1268">
              <a:solidFill>
                <a:srgbClr val="0D22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800150" y="1247425"/>
            <a:ext cx="78552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5"/>
              <a:buFont typeface="Arial"/>
              <a:buNone/>
            </a:pPr>
            <a:r>
              <a:rPr b="1" i="0" lang="en-US" sz="1750" u="none" cap="none" strike="noStrike">
                <a:solidFill>
                  <a:srgbClr val="0D223B"/>
                </a:solidFill>
                <a:latin typeface="Play"/>
                <a:ea typeface="Play"/>
                <a:cs typeface="Play"/>
                <a:sym typeface="Play"/>
              </a:rPr>
              <a:t>Gap Analysis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819787" y="1596672"/>
            <a:ext cx="77241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1"/>
              <a:buFont typeface="Arial"/>
              <a:buNone/>
            </a:pPr>
            <a:r>
              <a:rPr b="0" i="0" lang="en-US" sz="891" u="none" cap="none" strike="noStrike">
                <a:solidFill>
                  <a:srgbClr val="677788"/>
                </a:solidFill>
                <a:latin typeface="Arial"/>
                <a:ea typeface="Arial"/>
                <a:cs typeface="Arial"/>
                <a:sym typeface="Arial"/>
              </a:rPr>
              <a:t>From fragmented information to integrated market screening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898337" y="1866755"/>
            <a:ext cx="818100" cy="190200"/>
          </a:xfrm>
          <a:prstGeom prst="roundRect">
            <a:avLst>
              <a:gd fmla="val 16667" name="adj"/>
            </a:avLst>
          </a:prstGeom>
          <a:solidFill>
            <a:srgbClr val="E7F0F8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990500" y="1871332"/>
            <a:ext cx="687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i="0" lang="en-US" sz="688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LITERATURE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898325" y="2129725"/>
            <a:ext cx="33747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5"/>
              <a:buFont typeface="Arial"/>
              <a:buNone/>
            </a:pPr>
            <a:r>
              <a:rPr b="0" i="0" lang="en-US" sz="1115" u="none" cap="none" strike="noStrike">
                <a:solidFill>
                  <a:srgbClr val="1D2630"/>
                </a:solidFill>
                <a:latin typeface="Arial"/>
                <a:ea typeface="Arial"/>
                <a:cs typeface="Arial"/>
                <a:sym typeface="Arial"/>
              </a:rPr>
              <a:t>• Market selection is consistently treated as a multi-criteria problem, not a market-size ranking.</a:t>
            </a:r>
            <a:endParaRPr b="0" i="0" sz="10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000000"/>
              </a:buClr>
              <a:buSzPts val="1215"/>
              <a:buFont typeface="Arial"/>
              <a:buNone/>
            </a:pPr>
            <a:r>
              <a:rPr b="0" i="0" lang="en-US" sz="1115" u="none" cap="none" strike="noStrike">
                <a:solidFill>
                  <a:srgbClr val="1D2630"/>
                </a:solidFill>
                <a:latin typeface="Arial"/>
                <a:ea typeface="Arial"/>
                <a:cs typeface="Arial"/>
                <a:sym typeface="Arial"/>
              </a:rPr>
              <a:t>• Export-potential research combines supply, demand, market access, competition, and product structure.</a:t>
            </a:r>
            <a:endParaRPr b="0" i="0" sz="10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000000"/>
              </a:buClr>
              <a:buSzPts val="1215"/>
              <a:buFont typeface="Arial"/>
              <a:buNone/>
            </a:pPr>
            <a:r>
              <a:rPr b="0" i="0" lang="en-US" sz="1115" u="none" cap="none" strike="noStrike">
                <a:solidFill>
                  <a:srgbClr val="1D2630"/>
                </a:solidFill>
                <a:latin typeface="Arial"/>
                <a:ea typeface="Arial"/>
                <a:cs typeface="Arial"/>
                <a:sym typeface="Arial"/>
              </a:rPr>
              <a:t>• Machine learning can capture nonlinear trade patterns beyond an interpretable linear baseline.</a:t>
            </a:r>
            <a:endParaRPr b="0" i="0" sz="10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793070" y="1866755"/>
            <a:ext cx="1014300" cy="190200"/>
          </a:xfrm>
          <a:prstGeom prst="roundRect">
            <a:avLst>
              <a:gd fmla="val 16667" name="adj"/>
            </a:avLst>
          </a:prstGeom>
          <a:solidFill>
            <a:srgbClr val="E7F0F8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858528" y="1871332"/>
            <a:ext cx="8838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b="1" i="0" lang="en-US" sz="688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UNRESOLVED GAP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793070" y="2146516"/>
            <a:ext cx="3731400" cy="64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793070" y="2146516"/>
            <a:ext cx="52500" cy="643500"/>
          </a:xfrm>
          <a:prstGeom prst="rect">
            <a:avLst/>
          </a:prstGeom>
          <a:solidFill>
            <a:srgbClr val="BE4646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956714" y="2247230"/>
            <a:ext cx="3436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Font typeface="Arial"/>
              <a:buNone/>
            </a:pPr>
            <a:r>
              <a:rPr b="1" i="0" lang="en-US" sz="972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Fragmented public sources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TradeStat, UN Comtrade and World Bank provide complementary signals but not one integrated prioritization mechanism.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793070" y="2901870"/>
            <a:ext cx="3731400" cy="64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793070" y="2901870"/>
            <a:ext cx="52500" cy="6435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956714" y="3002584"/>
            <a:ext cx="3436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Font typeface="Arial"/>
              <a:buNone/>
            </a:pPr>
            <a:r>
              <a:rPr b="1" i="0" lang="en-US" sz="972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Single-metric screening is weak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High import demand can still be unattractive when India already has high share or supplier concentration is unfavorable.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793070" y="3657224"/>
            <a:ext cx="3731400" cy="643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4793070" y="3657224"/>
            <a:ext cx="52500" cy="6435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956714" y="3757938"/>
            <a:ext cx="34365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2"/>
              <a:buFont typeface="Arial"/>
              <a:buNone/>
            </a:pPr>
            <a:r>
              <a:rPr b="1" i="0" lang="en-US" sz="972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Need for explainability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Exporters need a shortlist plus the reasons behind each recommendation, not a black-box prediction alone.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800150" y="4376875"/>
            <a:ext cx="7724100" cy="402900"/>
          </a:xfrm>
          <a:prstGeom prst="roundRect">
            <a:avLst>
              <a:gd fmla="val 16667" name="adj"/>
            </a:avLst>
          </a:prstGeom>
          <a:solidFill>
            <a:srgbClr val="0D223B"/>
          </a:solidFill>
          <a:ln>
            <a:noFill/>
          </a:ln>
          <a:effectLst>
            <a:outerShdw blurRad="32388" rotWithShape="0" dir="5400000" dist="18623">
              <a:srgbClr val="000000">
                <a:alpha val="34902"/>
              </a:srgbClr>
            </a:outerShdw>
          </a:effectLst>
        </p:spPr>
        <p:txBody>
          <a:bodyPr anchorCtr="0" anchor="ctr" bIns="37000" lIns="74025" spcFirstLastPara="1" rIns="74025" wrap="square" tIns="37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7"/>
              <a:buFont typeface="Arial"/>
              <a:buNone/>
            </a:pPr>
            <a:r>
              <a:t/>
            </a:r>
            <a:endParaRPr b="0" i="0" sz="145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78156" y="4386942"/>
            <a:ext cx="7568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"/>
              <a:buFont typeface="Arial"/>
              <a:buNone/>
            </a:pPr>
            <a:r>
              <a:rPr b="1" i="0" lang="en-US" sz="105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RESPONSE → Predict demand + quantify competition + integrate six dimensions into the Export Market Attractiveness Score (EMAS).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854125" y="4953192"/>
            <a:ext cx="3333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74025" spcFirstLastPara="1" rIns="74025" wrap="square" tIns="37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8"/>
              <a:buFont typeface="Arial"/>
              <a:buNone/>
            </a:pPr>
            <a:r>
              <a:rPr b="0" i="0" lang="en-US" sz="648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/>
        </p:nvSpPr>
        <p:spPr>
          <a:xfrm>
            <a:off x="811650" y="1290125"/>
            <a:ext cx="75543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b="1" i="0" lang="en-US" sz="1790" u="none" cap="none" strike="noStrike">
                <a:solidFill>
                  <a:srgbClr val="0D223B"/>
                </a:solidFill>
                <a:latin typeface="Play"/>
                <a:ea typeface="Play"/>
                <a:cs typeface="Play"/>
                <a:sym typeface="Play"/>
              </a:rPr>
              <a:t>Research Questions, Hypotheses &amp; Tests</a:t>
            </a:r>
            <a:endParaRPr b="0" i="0" sz="9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830536" y="1642674"/>
            <a:ext cx="74286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7"/>
              <a:buFont typeface="Arial"/>
              <a:buNone/>
            </a:pPr>
            <a:r>
              <a:rPr b="0" i="0" lang="en-US" sz="857" u="none" cap="none" strike="noStrike">
                <a:solidFill>
                  <a:srgbClr val="677788"/>
                </a:solidFill>
                <a:latin typeface="Arial"/>
                <a:ea typeface="Arial"/>
                <a:cs typeface="Arial"/>
                <a:sym typeface="Arial"/>
              </a:rPr>
              <a:t>All inferential tests evaluated at α = .05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49467" y="1868924"/>
            <a:ext cx="6294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49467" y="1868924"/>
            <a:ext cx="50400" cy="5658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406853" y="1970774"/>
            <a:ext cx="346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2"/>
              <a:buFont typeface="Arial"/>
              <a:buNone/>
            </a:pPr>
            <a:r>
              <a:rPr b="1" i="0" lang="en-US" sz="1752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73450" y="1868925"/>
            <a:ext cx="23343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973450" y="1868925"/>
            <a:ext cx="37500" cy="5658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090180" y="1970775"/>
            <a:ext cx="2124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Do export-</a:t>
            </a: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 distributions differ across commodity groups?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Kruskal–Wallis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790286" y="1868924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790286" y="1868924"/>
            <a:ext cx="50400" cy="5658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947672" y="1970774"/>
            <a:ext cx="19515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Key result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H = 415.8915, p &lt; .001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8166300" y="1868925"/>
            <a:ext cx="7302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8119593" y="1868924"/>
            <a:ext cx="50400" cy="5658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8267736" y="1970775"/>
            <a:ext cx="548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49467" y="2593194"/>
            <a:ext cx="6294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49467" y="2593194"/>
            <a:ext cx="50400" cy="5658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406853" y="2695044"/>
            <a:ext cx="346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2"/>
              <a:buFont typeface="Arial"/>
              <a:buNone/>
            </a:pPr>
            <a:r>
              <a:rPr b="1" i="0" lang="en-US" sz="1752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973450" y="2593192"/>
            <a:ext cx="23343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973450" y="2593192"/>
            <a:ext cx="37500" cy="5658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1090180" y="2695042"/>
            <a:ext cx="2124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Which macroeconomic factors significantly influence export demand?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Standardized OLS + HC3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790286" y="2593194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790286" y="2593194"/>
            <a:ext cx="50400" cy="5658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5947672" y="2695044"/>
            <a:ext cx="19515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Key result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GDP, Population, GDP/capita significant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166300" y="2593192"/>
            <a:ext cx="7302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119593" y="2593194"/>
            <a:ext cx="50400" cy="5658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267736" y="2695042"/>
            <a:ext cx="548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49467" y="3317463"/>
            <a:ext cx="6294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49467" y="3317463"/>
            <a:ext cx="50400" cy="5658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06853" y="3419313"/>
            <a:ext cx="346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2"/>
              <a:buFont typeface="Arial"/>
              <a:buNone/>
            </a:pPr>
            <a:r>
              <a:rPr b="1" i="0" lang="en-US" sz="1752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973450" y="3317458"/>
            <a:ext cx="23343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973450" y="3317458"/>
            <a:ext cx="37500" cy="5658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1090180" y="3419308"/>
            <a:ext cx="2124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How do supplier competition and India market share change opportunity?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Market share + HHI screening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5790286" y="3317463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790286" y="3317463"/>
            <a:ext cx="50400" cy="5658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916144" y="3402225"/>
            <a:ext cx="22350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Key result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lang="en-US" sz="8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Competition / India-share indicator(s) significantly associated with export opportunity</a:t>
            </a:r>
            <a:endParaRPr sz="8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166300" y="3317458"/>
            <a:ext cx="7302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119593" y="3317463"/>
            <a:ext cx="50400" cy="565800"/>
          </a:xfrm>
          <a:prstGeom prst="rect">
            <a:avLst/>
          </a:prstGeom>
          <a:solidFill>
            <a:srgbClr val="677788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8267736" y="3419308"/>
            <a:ext cx="548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lang="en-US" sz="8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sz="8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249467" y="4041733"/>
            <a:ext cx="6294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49467" y="4041733"/>
            <a:ext cx="50400" cy="5658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406853" y="4143583"/>
            <a:ext cx="346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2"/>
              <a:buFont typeface="Arial"/>
              <a:buNone/>
            </a:pPr>
            <a:r>
              <a:rPr b="1" i="0" lang="en-US" sz="1752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73450" y="4041725"/>
            <a:ext cx="23343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973450" y="4041725"/>
            <a:ext cx="37500" cy="5658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1090180" y="4143575"/>
            <a:ext cx="2124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Can ML improve prediction over Linear Regression?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Out-of-time LR / RF / XGB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790286" y="4041733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790286" y="4041733"/>
            <a:ext cx="50400" cy="5658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947672" y="4143583"/>
            <a:ext cx="19515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Key result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RF RMSE 0.6299 vs LR 1.0821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166300" y="4041725"/>
            <a:ext cx="7302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119593" y="4041733"/>
            <a:ext cx="50400" cy="5658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27539" rotWithShape="0" dir="5400000" dist="15835">
              <a:srgbClr val="000000">
                <a:alpha val="34902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8267736" y="4143575"/>
            <a:ext cx="5481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6"/>
              <a:buFont typeface="Arial"/>
              <a:buNone/>
            </a:pPr>
            <a:r>
              <a:rPr b="1" i="0" lang="en-US" sz="92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0" i="0" lang="en-US" sz="823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Reject H₀</a:t>
            </a:r>
            <a:endParaRPr b="0" i="0" sz="10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8303200" y="4831404"/>
            <a:ext cx="283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"/>
              <a:buFont typeface="Arial"/>
              <a:buNone/>
            </a:pPr>
            <a:r>
              <a:rPr b="0" i="0" lang="en-US" sz="551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8119843" y="3317457"/>
            <a:ext cx="50400" cy="5658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368586" y="1868924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368586" y="1868924"/>
            <a:ext cx="50400" cy="56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3440225" y="1863524"/>
            <a:ext cx="21240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H₀₁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 Export-demand distributions do not differ significantly across commodity groups.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H₁₁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 At least one commodity group has a significantly different export-demand distribution.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368586" y="2593194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368586" y="2593194"/>
            <a:ext cx="50400" cy="56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3431513" y="2604663"/>
            <a:ext cx="22350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H₀₂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Macroeconomic factors are not significantly associated with export demand.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H₁₂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 At least one macroeconomic factor is significantly associated with export demand.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368586" y="3317463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368586" y="3317463"/>
            <a:ext cx="50400" cy="56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3437475" y="3271025"/>
            <a:ext cx="2334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H₀₃: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 Competition and India market-share indicators are 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not significantly associated with export opportunity.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H₁₃: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 At least one competition or India market-share indicator is significantly associated with export opportunity.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3368586" y="4041733"/>
            <a:ext cx="2235000" cy="56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368586" y="4041733"/>
            <a:ext cx="50400" cy="5658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7539" rotWithShape="0" dir="5400000" dist="15835">
              <a:srgbClr val="000000">
                <a:alpha val="34900"/>
              </a:srgbClr>
            </a:outerShdw>
          </a:effectLst>
        </p:spPr>
        <p:txBody>
          <a:bodyPr anchorCtr="0" anchor="ctr" bIns="31475" lIns="62950" spcFirstLastPara="1" rIns="62950" wrap="square" tIns="31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9"/>
              <a:buFont typeface="Arial"/>
              <a:buNone/>
            </a:pPr>
            <a:r>
              <a:t/>
            </a:r>
            <a:endParaRPr b="0" i="0" sz="13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3479475" y="4032811"/>
            <a:ext cx="21240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1475" lIns="62950" spcFirstLastPara="1" rIns="62950" wrap="square" tIns="3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H₀₄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 Machine-learning models do not improve predictive performance relative to Linear Regression.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3"/>
              <a:buFont typeface="Arial"/>
              <a:buNone/>
            </a:pPr>
            <a:r>
              <a:rPr b="1" lang="en-US" sz="926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H₁₄</a:t>
            </a:r>
            <a:r>
              <a:rPr lang="en-US" sz="723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: At least one machine-learning model improves predictive performance relative to Linear Regression.</a:t>
            </a:r>
            <a:endParaRPr sz="723">
              <a:solidFill>
                <a:srgbClr val="6777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729450" y="1181950"/>
            <a:ext cx="76887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2047"/>
              <a:buNone/>
            </a:pPr>
            <a:r>
              <a:rPr b="1" lang="en-US" sz="19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Data Description and EDA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731527" y="1652750"/>
            <a:ext cx="1661100" cy="8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731525" y="1687250"/>
            <a:ext cx="26100" cy="809100"/>
          </a:xfrm>
          <a:prstGeom prst="rect">
            <a:avLst/>
          </a:prstGeom>
          <a:solidFill>
            <a:srgbClr val="266F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807491" y="1709791"/>
            <a:ext cx="1297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TRADESTAT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07491" y="1942106"/>
            <a:ext cx="129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FA8"/>
                </a:solidFill>
                <a:latin typeface="Arial"/>
                <a:ea typeface="Arial"/>
                <a:cs typeface="Arial"/>
                <a:sym typeface="Arial"/>
              </a:rPr>
              <a:t>29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775848" y="2245850"/>
            <a:ext cx="1691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7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India exports, prior </a:t>
            </a:r>
            <a:r>
              <a:rPr b="0" i="0" lang="en-US" sz="7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0" lang="en-US" sz="7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, growth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2472922" y="1652750"/>
            <a:ext cx="1661100" cy="8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2472921" y="1687250"/>
            <a:ext cx="26100" cy="809100"/>
          </a:xfrm>
          <a:prstGeom prst="rect">
            <a:avLst/>
          </a:prstGeom>
          <a:solidFill>
            <a:srgbClr val="35A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2548880" y="1715225"/>
            <a:ext cx="1297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UN COMTRADE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2548880" y="1918020"/>
            <a:ext cx="129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5A6A0"/>
                </a:solidFill>
                <a:latin typeface="Arial"/>
                <a:ea typeface="Arial"/>
                <a:cs typeface="Arial"/>
                <a:sym typeface="Arial"/>
              </a:rPr>
              <a:t>100K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2548875" y="2213225"/>
            <a:ext cx="15669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7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mport demand, India share, suppliers, HHI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4214288" y="1652750"/>
            <a:ext cx="1849200" cy="89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4214300" y="1687250"/>
            <a:ext cx="26100" cy="809100"/>
          </a:xfrm>
          <a:prstGeom prst="rect">
            <a:avLst/>
          </a:prstGeom>
          <a:solidFill>
            <a:srgbClr val="DBA13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4290269" y="1687260"/>
            <a:ext cx="1297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WORLD BANK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4272710" y="1892372"/>
            <a:ext cx="1297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BA134"/>
                </a:solidFill>
                <a:latin typeface="Arial"/>
                <a:ea typeface="Arial"/>
                <a:cs typeface="Arial"/>
                <a:sym typeface="Arial"/>
              </a:rPr>
              <a:t>2,125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4267500" y="2205497"/>
            <a:ext cx="1735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7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GDP, GDP/capita, population, macro data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41950" y="4976500"/>
            <a:ext cx="8078100" cy="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50" lIns="21700" spcFirstLastPara="1" rIns="21700" wrap="square" tIns="1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2"/>
              <a:buFont typeface="Arial"/>
              <a:buNone/>
            </a:pPr>
            <a:r>
              <a:rPr b="0" i="0" lang="en-US" sz="672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EDA insight: USA accounts for 21.14% of export value; exports peak in 2023; strong product heterogeneity supports commodity-specific analysis. 2026 </a:t>
            </a:r>
            <a:r>
              <a:rPr lang="en-US" sz="672">
                <a:solidFill>
                  <a:srgbClr val="697077"/>
                </a:solidFill>
              </a:rPr>
              <a:t>has data till July</a:t>
            </a:r>
            <a:endParaRPr b="0" i="0" sz="110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5" y="2708450"/>
            <a:ext cx="2538900" cy="144078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/>
          <p:nvPr/>
        </p:nvSpPr>
        <p:spPr>
          <a:xfrm>
            <a:off x="731525" y="4228816"/>
            <a:ext cx="2619000" cy="6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731525" y="4228988"/>
            <a:ext cx="54300" cy="6810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816144" y="4264885"/>
            <a:ext cx="2312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25" lIns="64475" spcFirstLastPara="1" rIns="64475" wrap="square" tIns="3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i="0" lang="en-US" sz="94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Destination concentration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b="0" i="0" lang="en-US" sz="84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USA contributes 21.14% — more than twice UAE. Diversification matters.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3520498" y="4228816"/>
            <a:ext cx="2619000" cy="6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3520498" y="4228816"/>
            <a:ext cx="54300" cy="6810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3605098" y="4197844"/>
            <a:ext cx="26190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25" lIns="64475" spcFirstLastPara="1" rIns="64475" wrap="square" tIns="3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i="0" lang="en-US" sz="94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Time pattern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lang="en-US" sz="840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Export value increased strongly through 2023 before moderating. driven partly by the HS27 (Mineral Fuels &amp; Oils) surge during the 2022–23 global energy-price shock. Export values moderated thereafter. 2026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6309472" y="4228816"/>
            <a:ext cx="2619000" cy="6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309472" y="4228816"/>
            <a:ext cx="54300" cy="6810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28205" rotWithShape="0" dir="5400000" dist="16218">
              <a:srgbClr val="000000">
                <a:alpha val="34902"/>
              </a:srgbClr>
            </a:outerShdw>
          </a:effectLst>
        </p:spPr>
        <p:txBody>
          <a:bodyPr anchorCtr="0" anchor="ctr" bIns="32225" lIns="64475" spcFirstLastPara="1" rIns="64475" wrap="square" tIns="32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r>
              <a:t/>
            </a:r>
            <a:endParaRPr b="0" i="0" sz="13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6359902" y="4207821"/>
            <a:ext cx="2741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2225" lIns="64475" spcFirstLastPara="1" rIns="64475" wrap="square" tIns="32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"/>
              <a:buFont typeface="Arial"/>
              <a:buNone/>
            </a:pPr>
            <a:r>
              <a:rPr b="1" i="0" lang="en-US" sz="946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Product heterogeneity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0"/>
              <a:buFont typeface="Arial"/>
              <a:buNone/>
            </a:pPr>
            <a:r>
              <a:rPr lang="en-US" sz="840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Export performance differs substantially across HS groups: HS27 leads in export value, while HS84 and HS30 show stronger typical growth based on median growth rates.</a:t>
            </a:r>
            <a:endParaRPr b="0" i="0" sz="10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3775" y="1645100"/>
            <a:ext cx="2954752" cy="10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9125" y="2674624"/>
            <a:ext cx="2784049" cy="15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5"/>
          <p:cNvPicPr preferRelativeResize="0"/>
          <p:nvPr/>
        </p:nvPicPr>
        <p:blipFill rotWithShape="1">
          <a:blip r:embed="rId6">
            <a:alphaModFix/>
          </a:blip>
          <a:srcRect b="27657" l="0" r="0" t="0"/>
          <a:stretch/>
        </p:blipFill>
        <p:spPr>
          <a:xfrm>
            <a:off x="6255200" y="2674625"/>
            <a:ext cx="2784050" cy="15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5"/>
          <p:cNvPicPr preferRelativeResize="0"/>
          <p:nvPr/>
        </p:nvPicPr>
        <p:blipFill rotWithShape="1">
          <a:blip r:embed="rId7">
            <a:alphaModFix/>
          </a:blip>
          <a:srcRect b="23687" l="0" r="0" t="0"/>
          <a:stretch/>
        </p:blipFill>
        <p:spPr>
          <a:xfrm>
            <a:off x="3375700" y="2674625"/>
            <a:ext cx="2832046" cy="144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"/>
          <p:cNvPicPr preferRelativeResize="0"/>
          <p:nvPr/>
        </p:nvPicPr>
        <p:blipFill rotWithShape="1">
          <a:blip r:embed="rId8">
            <a:alphaModFix/>
          </a:blip>
          <a:srcRect b="8375" l="2177" r="50074" t="0"/>
          <a:stretch/>
        </p:blipFill>
        <p:spPr>
          <a:xfrm>
            <a:off x="729450" y="2674625"/>
            <a:ext cx="2618998" cy="15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2047"/>
              <a:buNone/>
            </a:pPr>
            <a:r>
              <a:rPr b="1" lang="en-US" sz="19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Architecture diagram/Workflow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11480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266FA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484632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66FA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484632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484632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TradeStat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Comtrade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World Bank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1609344" y="2761488"/>
            <a:ext cx="182880" cy="384048"/>
          </a:xfrm>
          <a:prstGeom prst="chevron">
            <a:avLst>
              <a:gd fmla="val 50000" name="adj"/>
            </a:avLst>
          </a:prstGeom>
          <a:solidFill>
            <a:srgbClr val="DCE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828800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35A6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1901952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5A6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1901952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1901952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Harmonize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Align years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026664" y="2761488"/>
            <a:ext cx="182880" cy="384048"/>
          </a:xfrm>
          <a:prstGeom prst="chevron">
            <a:avLst>
              <a:gd fmla="val 50000" name="adj"/>
            </a:avLst>
          </a:prstGeom>
          <a:solidFill>
            <a:srgbClr val="DCE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246120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DBA13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3319272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BA13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3319272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3319272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HHI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443984" y="2761488"/>
            <a:ext cx="182880" cy="384048"/>
          </a:xfrm>
          <a:prstGeom prst="chevron">
            <a:avLst>
              <a:gd fmla="val 50000" name="adj"/>
            </a:avLst>
          </a:prstGeom>
          <a:solidFill>
            <a:srgbClr val="DCE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663440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725DA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4736592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25D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4736592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4736592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LR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RF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861304" y="2761488"/>
            <a:ext cx="182880" cy="384048"/>
          </a:xfrm>
          <a:prstGeom prst="chevron">
            <a:avLst>
              <a:gd fmla="val 50000" name="adj"/>
            </a:avLst>
          </a:prstGeom>
          <a:solidFill>
            <a:srgbClr val="DCE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080760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4391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6153912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391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6153912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6153912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6 EMAS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Dimensions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278624" y="2761488"/>
            <a:ext cx="182880" cy="384048"/>
          </a:xfrm>
          <a:prstGeom prst="chevron">
            <a:avLst>
              <a:gd fmla="val 50000" name="adj"/>
            </a:avLst>
          </a:prstGeom>
          <a:solidFill>
            <a:srgbClr val="DCE1E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7498079" y="2240280"/>
            <a:ext cx="1170432" cy="1417320"/>
          </a:xfrm>
          <a:prstGeom prst="roundRect">
            <a:avLst>
              <a:gd fmla="val 16667" name="adj"/>
            </a:avLst>
          </a:prstGeom>
          <a:solidFill>
            <a:srgbClr val="F7F9FA"/>
          </a:solidFill>
          <a:ln cap="flat" cmpd="sng" w="9525">
            <a:solidFill>
              <a:srgbClr val="1F2C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7571231" y="2359152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7571231" y="2651760"/>
            <a:ext cx="10241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7571231" y="2944368"/>
            <a:ext cx="10241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Ranks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Tiers</a:t>
            </a:r>
            <a:b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Shortlist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749808" y="4005072"/>
            <a:ext cx="7635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Legend: sources → preprocessing → statistical analysis → machine learning → EMAS decision layer → business-ready output.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"/>
          <p:cNvSpPr txBox="1"/>
          <p:nvPr/>
        </p:nvSpPr>
        <p:spPr>
          <a:xfrm>
            <a:off x="411470" y="1294352"/>
            <a:ext cx="1115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A2E5C"/>
                </a:solidFill>
                <a:latin typeface="Arial"/>
                <a:ea typeface="Arial"/>
                <a:cs typeface="Arial"/>
                <a:sym typeface="Arial"/>
              </a:rPr>
              <a:t>Model Building </a:t>
            </a:r>
            <a:endParaRPr sz="1700"/>
          </a:p>
        </p:txBody>
      </p:sp>
      <p:sp>
        <p:nvSpPr>
          <p:cNvPr id="278" name="Google Shape;278;p7"/>
          <p:cNvSpPr txBox="1"/>
          <p:nvPr/>
        </p:nvSpPr>
        <p:spPr>
          <a:xfrm>
            <a:off x="384308" y="1579230"/>
            <a:ext cx="9052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86373"/>
                </a:solidFill>
                <a:latin typeface="Arial"/>
                <a:ea typeface="Arial"/>
                <a:cs typeface="Arial"/>
                <a:sym typeface="Arial"/>
              </a:rPr>
              <a:t>Statistical analysis, competition screening and machine learning combine to support the final EMAS decision layer.</a:t>
            </a:r>
            <a:endParaRPr sz="1200"/>
          </a:p>
        </p:txBody>
      </p:sp>
      <p:sp>
        <p:nvSpPr>
          <p:cNvPr id="279" name="Google Shape;279;p7"/>
          <p:cNvSpPr txBox="1"/>
          <p:nvPr>
            <p:ph type="title"/>
          </p:nvPr>
        </p:nvSpPr>
        <p:spPr>
          <a:xfrm>
            <a:off x="659540" y="1689121"/>
            <a:ext cx="5477700" cy="17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300" lIns="71300" spcFirstLastPara="1" rIns="71300" wrap="square" tIns="713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9"/>
              <a:buNone/>
            </a:pPr>
            <a:r>
              <a:t/>
            </a:r>
            <a:endParaRPr sz="2807">
              <a:solidFill>
                <a:schemeClr val="lt1"/>
              </a:solidFill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11473" y="1818006"/>
            <a:ext cx="4995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440008" y="1828985"/>
            <a:ext cx="4422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</a:t>
            </a:r>
            <a:endParaRPr sz="1191"/>
          </a:p>
        </p:txBody>
      </p:sp>
      <p:sp>
        <p:nvSpPr>
          <p:cNvPr id="282" name="Google Shape;282;p7"/>
          <p:cNvSpPr/>
          <p:nvPr/>
        </p:nvSpPr>
        <p:spPr>
          <a:xfrm>
            <a:off x="910838" y="1818006"/>
            <a:ext cx="15696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939373" y="1828985"/>
            <a:ext cx="15123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sz="1191"/>
          </a:p>
        </p:txBody>
      </p:sp>
      <p:sp>
        <p:nvSpPr>
          <p:cNvPr id="284" name="Google Shape;284;p7"/>
          <p:cNvSpPr/>
          <p:nvPr/>
        </p:nvSpPr>
        <p:spPr>
          <a:xfrm>
            <a:off x="2480270" y="1818006"/>
            <a:ext cx="15837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2508805" y="1828985"/>
            <a:ext cx="15267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APPROACH / MODEL</a:t>
            </a:r>
            <a:endParaRPr sz="1191"/>
          </a:p>
        </p:txBody>
      </p:sp>
      <p:sp>
        <p:nvSpPr>
          <p:cNvPr id="286" name="Google Shape;286;p7"/>
          <p:cNvSpPr/>
          <p:nvPr/>
        </p:nvSpPr>
        <p:spPr>
          <a:xfrm>
            <a:off x="4063971" y="1818006"/>
            <a:ext cx="15696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4092506" y="1828985"/>
            <a:ext cx="15123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sz="1191"/>
          </a:p>
        </p:txBody>
      </p:sp>
      <p:sp>
        <p:nvSpPr>
          <p:cNvPr id="288" name="Google Shape;288;p7"/>
          <p:cNvSpPr/>
          <p:nvPr/>
        </p:nvSpPr>
        <p:spPr>
          <a:xfrm>
            <a:off x="5633403" y="1818006"/>
            <a:ext cx="16623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5661938" y="1828985"/>
            <a:ext cx="16050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 / SETTINGS</a:t>
            </a:r>
            <a:endParaRPr sz="1191"/>
          </a:p>
        </p:txBody>
      </p:sp>
      <p:sp>
        <p:nvSpPr>
          <p:cNvPr id="290" name="Google Shape;290;p7"/>
          <p:cNvSpPr/>
          <p:nvPr/>
        </p:nvSpPr>
        <p:spPr>
          <a:xfrm>
            <a:off x="7295575" y="1818006"/>
            <a:ext cx="1676400" cy="219300"/>
          </a:xfrm>
          <a:prstGeom prst="rect">
            <a:avLst/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7324110" y="1828985"/>
            <a:ext cx="16194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 USED IN EMAS</a:t>
            </a:r>
            <a:endParaRPr sz="1191"/>
          </a:p>
        </p:txBody>
      </p:sp>
      <p:sp>
        <p:nvSpPr>
          <p:cNvPr id="292" name="Google Shape;292;p7"/>
          <p:cNvSpPr/>
          <p:nvPr/>
        </p:nvSpPr>
        <p:spPr>
          <a:xfrm>
            <a:off x="411475" y="2037596"/>
            <a:ext cx="4995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64423" y="2162428"/>
            <a:ext cx="385500" cy="301800"/>
          </a:xfrm>
          <a:prstGeom prst="roundRect">
            <a:avLst>
              <a:gd fmla="val 16667" name="adj"/>
            </a:avLst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435211" y="2206554"/>
            <a:ext cx="442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RQ1</a:t>
            </a:r>
            <a:endParaRPr sz="1091"/>
          </a:p>
        </p:txBody>
      </p:sp>
      <p:sp>
        <p:nvSpPr>
          <p:cNvPr id="295" name="Google Shape;295;p7"/>
          <p:cNvSpPr/>
          <p:nvPr/>
        </p:nvSpPr>
        <p:spPr>
          <a:xfrm>
            <a:off x="910838" y="2037583"/>
            <a:ext cx="15696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996447" y="2070517"/>
            <a:ext cx="1426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Do export-</a:t>
            </a:r>
            <a:r>
              <a:rPr b="1" lang="en-US" sz="746">
                <a:solidFill>
                  <a:srgbClr val="0E3058"/>
                </a:solidFill>
              </a:rPr>
              <a:t>value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distributions differ across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commodity groups?</a:t>
            </a:r>
            <a:endParaRPr sz="1191"/>
          </a:p>
        </p:txBody>
      </p:sp>
      <p:sp>
        <p:nvSpPr>
          <p:cNvPr id="297" name="Google Shape;297;p7"/>
          <p:cNvSpPr/>
          <p:nvPr/>
        </p:nvSpPr>
        <p:spPr>
          <a:xfrm>
            <a:off x="2480270" y="2037583"/>
            <a:ext cx="15837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2565876" y="2070520"/>
            <a:ext cx="1440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	      </a:t>
            </a: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 b="1" i="0" sz="777" u="none" cap="none" strike="noStrike">
              <a:solidFill>
                <a:srgbClr val="0E305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Kruskal–Wallis Test</a:t>
            </a:r>
            <a:endParaRPr sz="1191"/>
          </a:p>
        </p:txBody>
      </p:sp>
      <p:sp>
        <p:nvSpPr>
          <p:cNvPr id="299" name="Google Shape;299;p7"/>
          <p:cNvSpPr/>
          <p:nvPr/>
        </p:nvSpPr>
        <p:spPr>
          <a:xfrm>
            <a:off x="4063975" y="2037596"/>
            <a:ext cx="15837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4092201" y="2073557"/>
            <a:ext cx="1426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Test whether export </a:t>
            </a:r>
            <a:r>
              <a:rPr lang="en-US" sz="746">
                <a:solidFill>
                  <a:srgbClr val="373E48"/>
                </a:solidFill>
              </a:rPr>
              <a:t>value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differs significantly across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commodity (HS chapter) groups.</a:t>
            </a:r>
            <a:endParaRPr sz="1191"/>
          </a:p>
        </p:txBody>
      </p:sp>
      <p:sp>
        <p:nvSpPr>
          <p:cNvPr id="301" name="Google Shape;301;p7"/>
          <p:cNvSpPr/>
          <p:nvPr/>
        </p:nvSpPr>
        <p:spPr>
          <a:xfrm>
            <a:off x="5618778" y="2037558"/>
            <a:ext cx="16623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5704834" y="2054670"/>
            <a:ext cx="1519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Log-transformed export demand (log1p)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Non-parametric test across 24 HS chapters</a:t>
            </a:r>
            <a:endParaRPr sz="1191"/>
          </a:p>
        </p:txBody>
      </p:sp>
      <p:sp>
        <p:nvSpPr>
          <p:cNvPr id="303" name="Google Shape;303;p7"/>
          <p:cNvSpPr/>
          <p:nvPr/>
        </p:nvSpPr>
        <p:spPr>
          <a:xfrm>
            <a:off x="7295575" y="2037583"/>
            <a:ext cx="16764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7381180" y="2070520"/>
            <a:ext cx="153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Demand heterogeneity and need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for commodity-specific analysis.</a:t>
            </a:r>
            <a:endParaRPr sz="1191"/>
          </a:p>
        </p:txBody>
      </p:sp>
      <p:sp>
        <p:nvSpPr>
          <p:cNvPr id="305" name="Google Shape;305;p7"/>
          <p:cNvSpPr/>
          <p:nvPr/>
        </p:nvSpPr>
        <p:spPr>
          <a:xfrm>
            <a:off x="411473" y="2641419"/>
            <a:ext cx="4995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72565" y="2802987"/>
            <a:ext cx="385500" cy="311100"/>
          </a:xfrm>
          <a:prstGeom prst="roundRect">
            <a:avLst>
              <a:gd fmla="val 16667" name="adj"/>
            </a:avLst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 txBox="1"/>
          <p:nvPr/>
        </p:nvSpPr>
        <p:spPr>
          <a:xfrm>
            <a:off x="427240" y="2854158"/>
            <a:ext cx="442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RQ2</a:t>
            </a:r>
            <a:endParaRPr sz="1091"/>
          </a:p>
        </p:txBody>
      </p:sp>
      <p:sp>
        <p:nvSpPr>
          <p:cNvPr id="308" name="Google Shape;308;p7"/>
          <p:cNvSpPr/>
          <p:nvPr/>
        </p:nvSpPr>
        <p:spPr>
          <a:xfrm>
            <a:off x="910838" y="2641419"/>
            <a:ext cx="15696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996443" y="2674355"/>
            <a:ext cx="1426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Which macroeconomic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factors significantly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influence export demand?</a:t>
            </a:r>
            <a:endParaRPr sz="1191"/>
          </a:p>
        </p:txBody>
      </p:sp>
      <p:sp>
        <p:nvSpPr>
          <p:cNvPr id="310" name="Google Shape;310;p7"/>
          <p:cNvSpPr/>
          <p:nvPr/>
        </p:nvSpPr>
        <p:spPr>
          <a:xfrm>
            <a:off x="2480270" y="2641419"/>
            <a:ext cx="15837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2565875" y="2674346"/>
            <a:ext cx="15123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Multiple Linear Regression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(Standardized) </a:t>
            </a:r>
            <a:endParaRPr b="1" i="0" sz="777" u="none" cap="none" strike="noStrike">
              <a:solidFill>
                <a:srgbClr val="0E305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7">
                <a:solidFill>
                  <a:srgbClr val="0E3058"/>
                </a:solidFill>
              </a:rPr>
              <a:t>      </a:t>
            </a: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endParaRPr b="1" i="0" sz="777" u="none" cap="none" strike="noStrike">
              <a:solidFill>
                <a:srgbClr val="0E305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HC3</a:t>
            </a:r>
            <a:r>
              <a:rPr b="1" lang="en-US" sz="777">
                <a:solidFill>
                  <a:srgbClr val="0E3058"/>
                </a:solidFill>
              </a:rPr>
              <a:t> </a:t>
            </a: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Robust Standard Errors</a:t>
            </a:r>
            <a:endParaRPr sz="1191"/>
          </a:p>
        </p:txBody>
      </p:sp>
      <p:sp>
        <p:nvSpPr>
          <p:cNvPr id="312" name="Google Shape;312;p7"/>
          <p:cNvSpPr/>
          <p:nvPr/>
        </p:nvSpPr>
        <p:spPr>
          <a:xfrm>
            <a:off x="4063971" y="2641419"/>
            <a:ext cx="15696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4092201" y="2647855"/>
            <a:ext cx="1426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Identify which macroeconomic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variables significantly drive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export demand.</a:t>
            </a:r>
            <a:endParaRPr sz="1191"/>
          </a:p>
        </p:txBody>
      </p:sp>
      <p:sp>
        <p:nvSpPr>
          <p:cNvPr id="314" name="Google Shape;314;p7"/>
          <p:cNvSpPr/>
          <p:nvPr/>
        </p:nvSpPr>
        <p:spPr>
          <a:xfrm>
            <a:off x="5633403" y="2641419"/>
            <a:ext cx="16623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5647400" y="2636421"/>
            <a:ext cx="1605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GDP, Population, GDP/capita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GDP Growth, Trade Openness,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  Inflation, Exchange Rate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Robust inference (HC3)</a:t>
            </a:r>
            <a:endParaRPr sz="1191"/>
          </a:p>
        </p:txBody>
      </p:sp>
      <p:sp>
        <p:nvSpPr>
          <p:cNvPr id="316" name="Google Shape;316;p7"/>
          <p:cNvSpPr/>
          <p:nvPr/>
        </p:nvSpPr>
        <p:spPr>
          <a:xfrm>
            <a:off x="7295575" y="2641419"/>
            <a:ext cx="16764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7"/>
          <p:cNvSpPr txBox="1"/>
          <p:nvPr/>
        </p:nvSpPr>
        <p:spPr>
          <a:xfrm>
            <a:off x="7381180" y="2674355"/>
            <a:ext cx="15336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Economic Strength dimension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and insight on key drivers.</a:t>
            </a:r>
            <a:endParaRPr sz="1191"/>
          </a:p>
        </p:txBody>
      </p:sp>
      <p:sp>
        <p:nvSpPr>
          <p:cNvPr id="318" name="Google Shape;318;p7"/>
          <p:cNvSpPr/>
          <p:nvPr/>
        </p:nvSpPr>
        <p:spPr>
          <a:xfrm>
            <a:off x="411473" y="3245254"/>
            <a:ext cx="4995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472565" y="3404728"/>
            <a:ext cx="385500" cy="276300"/>
          </a:xfrm>
          <a:prstGeom prst="roundRect">
            <a:avLst>
              <a:gd fmla="val 16667" name="adj"/>
            </a:avLst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432225" y="3437396"/>
            <a:ext cx="442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RQ3</a:t>
            </a:r>
            <a:endParaRPr sz="1091"/>
          </a:p>
        </p:txBody>
      </p:sp>
      <p:sp>
        <p:nvSpPr>
          <p:cNvPr id="321" name="Google Shape;321;p7"/>
          <p:cNvSpPr/>
          <p:nvPr/>
        </p:nvSpPr>
        <p:spPr>
          <a:xfrm>
            <a:off x="910838" y="3245254"/>
            <a:ext cx="15696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"/>
          <p:cNvSpPr txBox="1"/>
          <p:nvPr/>
        </p:nvSpPr>
        <p:spPr>
          <a:xfrm>
            <a:off x="996443" y="3278191"/>
            <a:ext cx="1426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How do supplier competition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and India market share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change opportunity?</a:t>
            </a:r>
            <a:endParaRPr sz="1191"/>
          </a:p>
        </p:txBody>
      </p:sp>
      <p:sp>
        <p:nvSpPr>
          <p:cNvPr id="323" name="Google Shape;323;p7"/>
          <p:cNvSpPr/>
          <p:nvPr/>
        </p:nvSpPr>
        <p:spPr>
          <a:xfrm>
            <a:off x="2480270" y="3245254"/>
            <a:ext cx="15837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2565875" y="3278196"/>
            <a:ext cx="1440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Descriptive Analysis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	      + </a:t>
            </a:r>
            <a:endParaRPr b="1" i="0" sz="777" u="none" cap="none" strike="noStrike">
              <a:solidFill>
                <a:srgbClr val="0E305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Opportunity Screening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(Market Share + HHI)</a:t>
            </a:r>
            <a:endParaRPr sz="1191"/>
          </a:p>
        </p:txBody>
      </p:sp>
      <p:sp>
        <p:nvSpPr>
          <p:cNvPr id="325" name="Google Shape;325;p7"/>
          <p:cNvSpPr/>
          <p:nvPr/>
        </p:nvSpPr>
        <p:spPr>
          <a:xfrm>
            <a:off x="4063971" y="3245254"/>
            <a:ext cx="15696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 txBox="1"/>
          <p:nvPr/>
        </p:nvSpPr>
        <p:spPr>
          <a:xfrm>
            <a:off x="4088988" y="3245246"/>
            <a:ext cx="16050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Find high import-demand markets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where India share is low and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supplier concentration is favorable.</a:t>
            </a:r>
            <a:endParaRPr sz="1191"/>
          </a:p>
        </p:txBody>
      </p:sp>
      <p:sp>
        <p:nvSpPr>
          <p:cNvPr id="327" name="Google Shape;327;p7"/>
          <p:cNvSpPr/>
          <p:nvPr/>
        </p:nvSpPr>
        <p:spPr>
          <a:xfrm>
            <a:off x="5633403" y="3245254"/>
            <a:ext cx="16623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5633275" y="3242758"/>
            <a:ext cx="1662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India Market Share (%)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Number of Suppliers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Herfindahl–Hirschman Index (HHI)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Opportunity thresholds</a:t>
            </a:r>
            <a:endParaRPr sz="1191"/>
          </a:p>
        </p:txBody>
      </p:sp>
      <p:sp>
        <p:nvSpPr>
          <p:cNvPr id="329" name="Google Shape;329;p7"/>
          <p:cNvSpPr/>
          <p:nvPr/>
        </p:nvSpPr>
        <p:spPr>
          <a:xfrm>
            <a:off x="7295575" y="3245254"/>
            <a:ext cx="1676400" cy="603600"/>
          </a:xfrm>
          <a:prstGeom prst="rect">
            <a:avLst/>
          </a:prstGeom>
          <a:solidFill>
            <a:srgbClr val="F2F7FC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7381180" y="3278191"/>
            <a:ext cx="15336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India Opportunity and Competition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dimensions; opportunity shortlist.</a:t>
            </a:r>
            <a:endParaRPr sz="1191"/>
          </a:p>
        </p:txBody>
      </p:sp>
      <p:sp>
        <p:nvSpPr>
          <p:cNvPr id="331" name="Google Shape;331;p7"/>
          <p:cNvSpPr/>
          <p:nvPr/>
        </p:nvSpPr>
        <p:spPr>
          <a:xfrm>
            <a:off x="411473" y="3849090"/>
            <a:ext cx="4995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464424" y="3939393"/>
            <a:ext cx="385500" cy="276300"/>
          </a:xfrm>
          <a:prstGeom prst="roundRect">
            <a:avLst>
              <a:gd fmla="val 16667" name="adj"/>
            </a:avLst>
          </a:prstGeom>
          <a:solidFill>
            <a:srgbClr val="0E3058"/>
          </a:solidFill>
          <a:ln cap="flat" cmpd="sng" w="7925">
            <a:solidFill>
              <a:srgbClr val="0E3058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432225" y="3975797"/>
            <a:ext cx="442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RQ4</a:t>
            </a:r>
            <a:endParaRPr sz="1091"/>
          </a:p>
        </p:txBody>
      </p:sp>
      <p:sp>
        <p:nvSpPr>
          <p:cNvPr id="334" name="Google Shape;334;p7"/>
          <p:cNvSpPr/>
          <p:nvPr/>
        </p:nvSpPr>
        <p:spPr>
          <a:xfrm>
            <a:off x="910838" y="3849090"/>
            <a:ext cx="15696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 txBox="1"/>
          <p:nvPr/>
        </p:nvSpPr>
        <p:spPr>
          <a:xfrm>
            <a:off x="996443" y="3882026"/>
            <a:ext cx="1426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Can ML improve prediction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of export demand over</a:t>
            </a:r>
            <a:b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46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Linear Regression?</a:t>
            </a:r>
            <a:endParaRPr sz="1191"/>
          </a:p>
        </p:txBody>
      </p:sp>
      <p:sp>
        <p:nvSpPr>
          <p:cNvPr id="336" name="Google Shape;336;p7"/>
          <p:cNvSpPr/>
          <p:nvPr/>
        </p:nvSpPr>
        <p:spPr>
          <a:xfrm>
            <a:off x="2480270" y="3849090"/>
            <a:ext cx="15837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2523026" y="3863509"/>
            <a:ext cx="1526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Machine Learning Models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Linear Regression (Baseline)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b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777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1191"/>
          </a:p>
        </p:txBody>
      </p:sp>
      <p:sp>
        <p:nvSpPr>
          <p:cNvPr id="338" name="Google Shape;338;p7"/>
          <p:cNvSpPr/>
          <p:nvPr/>
        </p:nvSpPr>
        <p:spPr>
          <a:xfrm>
            <a:off x="4063971" y="3849090"/>
            <a:ext cx="15696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 txBox="1"/>
          <p:nvPr/>
        </p:nvSpPr>
        <p:spPr>
          <a:xfrm>
            <a:off x="4085337" y="3876533"/>
            <a:ext cx="1526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Predict future export demand and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test whether ML provides better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out-of-time performance.</a:t>
            </a:r>
            <a:endParaRPr sz="1191"/>
          </a:p>
        </p:txBody>
      </p:sp>
      <p:sp>
        <p:nvSpPr>
          <p:cNvPr id="340" name="Google Shape;340;p7"/>
          <p:cNvSpPr/>
          <p:nvPr/>
        </p:nvSpPr>
        <p:spPr>
          <a:xfrm>
            <a:off x="5633403" y="3849090"/>
            <a:ext cx="16623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5633375" y="3875296"/>
            <a:ext cx="17625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Target: log1p(Export_Current)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Historical export + macro variables,</a:t>
            </a:r>
            <a:r>
              <a:rPr lang="en-US" sz="746">
                <a:solidFill>
                  <a:srgbClr val="373E48"/>
                </a:solidFill>
              </a:rPr>
              <a:t> </a:t>
            </a: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year, country &amp; commodity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• Train ≤ 2024; Test = 2025</a:t>
            </a:r>
            <a:endParaRPr sz="1191"/>
          </a:p>
        </p:txBody>
      </p:sp>
      <p:sp>
        <p:nvSpPr>
          <p:cNvPr id="342" name="Google Shape;342;p7"/>
          <p:cNvSpPr/>
          <p:nvPr/>
        </p:nvSpPr>
        <p:spPr>
          <a:xfrm>
            <a:off x="7295575" y="3849090"/>
            <a:ext cx="1676400" cy="603600"/>
          </a:xfrm>
          <a:prstGeom prst="rect">
            <a:avLst/>
          </a:prstGeom>
          <a:solidFill>
            <a:srgbClr val="FFFFFF"/>
          </a:solidFill>
          <a:ln cap="flat" cmpd="sng" w="7925">
            <a:solidFill>
              <a:srgbClr val="BCC9D7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9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7381180" y="3882026"/>
            <a:ext cx="15336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Predicted demand (RF) feeds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Export Performance dimension</a:t>
            </a:r>
            <a:b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746" u="none" cap="none" strike="noStrike">
                <a:solidFill>
                  <a:srgbClr val="373E48"/>
                </a:solidFill>
                <a:latin typeface="Arial"/>
                <a:ea typeface="Arial"/>
                <a:cs typeface="Arial"/>
                <a:sym typeface="Arial"/>
              </a:rPr>
              <a:t>of EMAS.</a:t>
            </a:r>
            <a:endParaRPr sz="1191"/>
          </a:p>
        </p:txBody>
      </p:sp>
      <p:sp>
        <p:nvSpPr>
          <p:cNvPr id="344" name="Google Shape;344;p7"/>
          <p:cNvSpPr/>
          <p:nvPr/>
        </p:nvSpPr>
        <p:spPr>
          <a:xfrm>
            <a:off x="411475" y="4540096"/>
            <a:ext cx="8560500" cy="500700"/>
          </a:xfrm>
          <a:prstGeom prst="roundRect">
            <a:avLst>
              <a:gd fmla="val 16667" name="adj"/>
            </a:avLst>
          </a:prstGeom>
          <a:solidFill>
            <a:srgbClr val="FFFAF2"/>
          </a:solidFill>
          <a:ln cap="flat" cmpd="sng" w="7925">
            <a:solidFill>
              <a:srgbClr val="E0C492"/>
            </a:solidFill>
            <a:prstDash val="solid"/>
            <a:round/>
            <a:headEnd len="sm" w="sm" type="none"/>
            <a:tailEnd len="sm" w="sm" type="none"/>
          </a:ln>
          <a:effectLst>
            <a:outerShdw blurRad="31206" rotWithShape="0" dir="5400000" dist="17944">
              <a:srgbClr val="000000">
                <a:alpha val="34900"/>
              </a:srgbClr>
            </a:outerShdw>
          </a:effectLst>
        </p:spPr>
        <p:txBody>
          <a:bodyPr anchorCtr="0" anchor="ctr" bIns="35675" lIns="71300" spcFirstLastPara="1" rIns="71300" wrap="square" tIns="3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9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7"/>
          <p:cNvSpPr txBox="1"/>
          <p:nvPr/>
        </p:nvSpPr>
        <p:spPr>
          <a:xfrm>
            <a:off x="554743" y="4597323"/>
            <a:ext cx="24714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b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TradeStat 6,040 • UN Comtrade 100,000 • World Bank 2,125</a:t>
            </a:r>
            <a:endParaRPr sz="1092"/>
          </a:p>
        </p:txBody>
      </p:sp>
      <p:sp>
        <p:nvSpPr>
          <p:cNvPr id="346" name="Google Shape;346;p7"/>
          <p:cNvSpPr txBox="1"/>
          <p:nvPr/>
        </p:nvSpPr>
        <p:spPr>
          <a:xfrm>
            <a:off x="3205203" y="4597323"/>
            <a:ext cx="2328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VALIDATION DESIGN</a:t>
            </a:r>
            <a:b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Train ≤ 2024: 3,979 • Test 2025: 1,006</a:t>
            </a:r>
            <a:endParaRPr sz="1092"/>
          </a:p>
        </p:txBody>
      </p:sp>
      <p:sp>
        <p:nvSpPr>
          <p:cNvPr id="347" name="Google Shape;347;p7"/>
          <p:cNvSpPr txBox="1"/>
          <p:nvPr/>
        </p:nvSpPr>
        <p:spPr>
          <a:xfrm>
            <a:off x="5748213" y="4597323"/>
            <a:ext cx="2936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00" spcFirstLastPara="1" rIns="71300" wrap="square" tIns="3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PRIMARY MODEL-SELECTION METRIC</a:t>
            </a:r>
            <a:b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3" u="none" cap="none" strike="noStrike">
                <a:solidFill>
                  <a:srgbClr val="0E3058"/>
                </a:solidFill>
                <a:latin typeface="Arial"/>
                <a:ea typeface="Arial"/>
                <a:cs typeface="Arial"/>
                <a:sym typeface="Arial"/>
              </a:rPr>
              <a:t>RMSE (log); also report MAE (log) and R² (log)</a:t>
            </a:r>
            <a:endParaRPr sz="1092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"/>
          <p:cNvSpPr txBox="1"/>
          <p:nvPr/>
        </p:nvSpPr>
        <p:spPr>
          <a:xfrm>
            <a:off x="502920" y="481926"/>
            <a:ext cx="182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700"/>
          </a:p>
        </p:txBody>
      </p:sp>
      <p:sp>
        <p:nvSpPr>
          <p:cNvPr id="353" name="Google Shape;353;p8"/>
          <p:cNvSpPr/>
          <p:nvPr/>
        </p:nvSpPr>
        <p:spPr>
          <a:xfrm>
            <a:off x="502925" y="932700"/>
            <a:ext cx="1947600" cy="10203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0750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"/>
          <p:cNvSpPr txBox="1"/>
          <p:nvPr/>
        </p:nvSpPr>
        <p:spPr>
          <a:xfrm>
            <a:off x="602368" y="987858"/>
            <a:ext cx="17484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RQ1</a:t>
            </a:r>
            <a:endParaRPr sz="1187"/>
          </a:p>
        </p:txBody>
      </p:sp>
      <p:sp>
        <p:nvSpPr>
          <p:cNvPr id="355" name="Google Shape;355;p8"/>
          <p:cNvSpPr txBox="1"/>
          <p:nvPr/>
        </p:nvSpPr>
        <p:spPr>
          <a:xfrm>
            <a:off x="585795" y="1180913"/>
            <a:ext cx="178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2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H = 415.8915</a:t>
            </a:r>
            <a:endParaRPr sz="1187"/>
          </a:p>
        </p:txBody>
      </p:sp>
      <p:sp>
        <p:nvSpPr>
          <p:cNvPr id="356" name="Google Shape;356;p8"/>
          <p:cNvSpPr txBox="1"/>
          <p:nvPr/>
        </p:nvSpPr>
        <p:spPr>
          <a:xfrm>
            <a:off x="602368" y="1429125"/>
            <a:ext cx="1748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p &lt; .001 • Reject H₀</a:t>
            </a:r>
            <a:endParaRPr sz="1187"/>
          </a:p>
        </p:txBody>
      </p:sp>
      <p:sp>
        <p:nvSpPr>
          <p:cNvPr id="357" name="Google Shape;357;p8"/>
          <p:cNvSpPr txBox="1"/>
          <p:nvPr/>
        </p:nvSpPr>
        <p:spPr>
          <a:xfrm>
            <a:off x="602368" y="1663549"/>
            <a:ext cx="1748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Export demand differs significantly</a:t>
            </a:r>
            <a:b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across countries and commodities.</a:t>
            </a:r>
            <a:endParaRPr sz="1187"/>
          </a:p>
        </p:txBody>
      </p:sp>
      <p:sp>
        <p:nvSpPr>
          <p:cNvPr id="358" name="Google Shape;358;p8"/>
          <p:cNvSpPr/>
          <p:nvPr/>
        </p:nvSpPr>
        <p:spPr>
          <a:xfrm>
            <a:off x="2657534" y="932700"/>
            <a:ext cx="1947600" cy="10203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0750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2756977" y="987858"/>
            <a:ext cx="17484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RQ2</a:t>
            </a:r>
            <a:endParaRPr sz="1187"/>
          </a:p>
        </p:txBody>
      </p:sp>
      <p:sp>
        <p:nvSpPr>
          <p:cNvPr id="360" name="Google Shape;360;p8"/>
          <p:cNvSpPr txBox="1"/>
          <p:nvPr/>
        </p:nvSpPr>
        <p:spPr>
          <a:xfrm>
            <a:off x="2740403" y="1180913"/>
            <a:ext cx="178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2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R² = .233</a:t>
            </a:r>
            <a:endParaRPr sz="1187"/>
          </a:p>
        </p:txBody>
      </p:sp>
      <p:sp>
        <p:nvSpPr>
          <p:cNvPr id="361" name="Google Shape;361;p8"/>
          <p:cNvSpPr txBox="1"/>
          <p:nvPr/>
        </p:nvSpPr>
        <p:spPr>
          <a:xfrm>
            <a:off x="2756977" y="1429125"/>
            <a:ext cx="1748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GDP, Population &amp; GDP/capita significant</a:t>
            </a:r>
            <a:endParaRPr sz="1187"/>
          </a:p>
        </p:txBody>
      </p:sp>
      <p:sp>
        <p:nvSpPr>
          <p:cNvPr id="362" name="Google Shape;362;p8"/>
          <p:cNvSpPr txBox="1"/>
          <p:nvPr/>
        </p:nvSpPr>
        <p:spPr>
          <a:xfrm>
            <a:off x="2756977" y="1663549"/>
            <a:ext cx="1748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Economic factors significantly</a:t>
            </a:r>
            <a:b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influence export demand.</a:t>
            </a:r>
            <a:endParaRPr sz="1187"/>
          </a:p>
        </p:txBody>
      </p:sp>
      <p:sp>
        <p:nvSpPr>
          <p:cNvPr id="363" name="Google Shape;363;p8"/>
          <p:cNvSpPr/>
          <p:nvPr/>
        </p:nvSpPr>
        <p:spPr>
          <a:xfrm>
            <a:off x="4812143" y="932700"/>
            <a:ext cx="1947600" cy="1020300"/>
          </a:xfrm>
          <a:prstGeom prst="roundRect">
            <a:avLst>
              <a:gd fmla="val 16667" name="adj"/>
            </a:avLst>
          </a:prstGeom>
          <a:solidFill>
            <a:srgbClr val="EFF5FB"/>
          </a:solidFill>
          <a:ln cap="flat" cmpd="sng" w="10750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 txBox="1"/>
          <p:nvPr/>
        </p:nvSpPr>
        <p:spPr>
          <a:xfrm>
            <a:off x="4911586" y="987858"/>
            <a:ext cx="17484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RQ3</a:t>
            </a:r>
            <a:endParaRPr sz="1187"/>
          </a:p>
        </p:txBody>
      </p:sp>
      <p:sp>
        <p:nvSpPr>
          <p:cNvPr id="365" name="Google Shape;365;p8"/>
          <p:cNvSpPr txBox="1"/>
          <p:nvPr/>
        </p:nvSpPr>
        <p:spPr>
          <a:xfrm>
            <a:off x="4895012" y="1180913"/>
            <a:ext cx="178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2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45 markets</a:t>
            </a:r>
            <a:endParaRPr sz="1187"/>
          </a:p>
        </p:txBody>
      </p:sp>
      <p:sp>
        <p:nvSpPr>
          <p:cNvPr id="366" name="Google Shape;366;p8"/>
          <p:cNvSpPr txBox="1"/>
          <p:nvPr/>
        </p:nvSpPr>
        <p:spPr>
          <a:xfrm>
            <a:off x="4911586" y="1429125"/>
            <a:ext cx="1748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Opportunity-screening candidates</a:t>
            </a:r>
            <a:endParaRPr sz="1187"/>
          </a:p>
        </p:txBody>
      </p:sp>
      <p:sp>
        <p:nvSpPr>
          <p:cNvPr id="367" name="Google Shape;367;p8"/>
          <p:cNvSpPr txBox="1"/>
          <p:nvPr/>
        </p:nvSpPr>
        <p:spPr>
          <a:xfrm>
            <a:off x="4911586" y="1663549"/>
            <a:ext cx="1748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High-potential markets identified</a:t>
            </a:r>
            <a:b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for India’s exports.</a:t>
            </a:r>
            <a:endParaRPr sz="1187"/>
          </a:p>
        </p:txBody>
      </p:sp>
      <p:sp>
        <p:nvSpPr>
          <p:cNvPr id="368" name="Google Shape;368;p8"/>
          <p:cNvSpPr/>
          <p:nvPr/>
        </p:nvSpPr>
        <p:spPr>
          <a:xfrm>
            <a:off x="6966752" y="932700"/>
            <a:ext cx="1947600" cy="1020300"/>
          </a:xfrm>
          <a:prstGeom prst="roundRect">
            <a:avLst>
              <a:gd fmla="val 16667" name="adj"/>
            </a:avLst>
          </a:prstGeom>
          <a:solidFill>
            <a:srgbClr val="FFF9EF"/>
          </a:solidFill>
          <a:ln cap="flat" cmpd="sng" w="10750">
            <a:solidFill>
              <a:srgbClr val="CD8F25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8"/>
          <p:cNvSpPr txBox="1"/>
          <p:nvPr/>
        </p:nvSpPr>
        <p:spPr>
          <a:xfrm>
            <a:off x="7066194" y="987858"/>
            <a:ext cx="17484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RQ4</a:t>
            </a:r>
            <a:endParaRPr sz="1187"/>
          </a:p>
        </p:txBody>
      </p:sp>
      <p:sp>
        <p:nvSpPr>
          <p:cNvPr id="370" name="Google Shape;370;p8"/>
          <p:cNvSpPr txBox="1"/>
          <p:nvPr/>
        </p:nvSpPr>
        <p:spPr>
          <a:xfrm>
            <a:off x="7049620" y="1180913"/>
            <a:ext cx="178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2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RF Test R² = .9224</a:t>
            </a:r>
            <a:endParaRPr sz="1187"/>
          </a:p>
        </p:txBody>
      </p:sp>
      <p:sp>
        <p:nvSpPr>
          <p:cNvPr id="371" name="Google Shape;371;p8"/>
          <p:cNvSpPr txBox="1"/>
          <p:nvPr/>
        </p:nvSpPr>
        <p:spPr>
          <a:xfrm>
            <a:off x="7066194" y="1429125"/>
            <a:ext cx="1748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Test RMSE = .6299 • Reject H₀</a:t>
            </a:r>
            <a:endParaRPr sz="1187"/>
          </a:p>
        </p:txBody>
      </p:sp>
      <p:sp>
        <p:nvSpPr>
          <p:cNvPr id="372" name="Google Shape;372;p8"/>
          <p:cNvSpPr txBox="1"/>
          <p:nvPr/>
        </p:nvSpPr>
        <p:spPr>
          <a:xfrm>
            <a:off x="7066194" y="1663549"/>
            <a:ext cx="17484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ML models outperform the</a:t>
            </a:r>
            <a:b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94" u="none" cap="none" strike="noStrike">
                <a:solidFill>
                  <a:srgbClr val="5A6470"/>
                </a:solidFill>
                <a:latin typeface="Arial"/>
                <a:ea typeface="Arial"/>
                <a:cs typeface="Arial"/>
                <a:sym typeface="Arial"/>
              </a:rPr>
              <a:t>linear baseline.</a:t>
            </a:r>
            <a:endParaRPr sz="1187"/>
          </a:p>
        </p:txBody>
      </p:sp>
      <p:sp>
        <p:nvSpPr>
          <p:cNvPr id="373" name="Google Shape;373;p8"/>
          <p:cNvSpPr/>
          <p:nvPr/>
        </p:nvSpPr>
        <p:spPr>
          <a:xfrm>
            <a:off x="502925" y="2125494"/>
            <a:ext cx="1977000" cy="2447400"/>
          </a:xfrm>
          <a:prstGeom prst="roundRect">
            <a:avLst>
              <a:gd fmla="val 16667" name="adj"/>
            </a:avLst>
          </a:prstGeom>
          <a:solidFill>
            <a:srgbClr val="F8FAFD"/>
          </a:solidFill>
          <a:ln cap="flat" cmpd="sng" w="10750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657969" y="2215126"/>
            <a:ext cx="1666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3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RQ4 VALIDATION SPLIT</a:t>
            </a:r>
            <a:endParaRPr sz="1187"/>
          </a:p>
        </p:txBody>
      </p:sp>
      <p:sp>
        <p:nvSpPr>
          <p:cNvPr id="375" name="Google Shape;375;p8"/>
          <p:cNvSpPr txBox="1"/>
          <p:nvPr/>
        </p:nvSpPr>
        <p:spPr>
          <a:xfrm>
            <a:off x="642465" y="2546075"/>
            <a:ext cx="7365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187"/>
          </a:p>
        </p:txBody>
      </p:sp>
      <p:sp>
        <p:nvSpPr>
          <p:cNvPr id="376" name="Google Shape;376;p8"/>
          <p:cNvSpPr txBox="1"/>
          <p:nvPr/>
        </p:nvSpPr>
        <p:spPr>
          <a:xfrm>
            <a:off x="1549474" y="2546075"/>
            <a:ext cx="7365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8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1187"/>
          </a:p>
        </p:txBody>
      </p:sp>
      <p:sp>
        <p:nvSpPr>
          <p:cNvPr id="377" name="Google Shape;377;p8"/>
          <p:cNvSpPr txBox="1"/>
          <p:nvPr/>
        </p:nvSpPr>
        <p:spPr>
          <a:xfrm>
            <a:off x="619208" y="2746023"/>
            <a:ext cx="7908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≤ 2024</a:t>
            </a:r>
            <a:br>
              <a:rPr b="1" i="0" lang="en-US" sz="1017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17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3,979 rows</a:t>
            </a:r>
            <a:endParaRPr sz="1187"/>
          </a:p>
        </p:txBody>
      </p:sp>
      <p:sp>
        <p:nvSpPr>
          <p:cNvPr id="378" name="Google Shape;378;p8"/>
          <p:cNvSpPr txBox="1"/>
          <p:nvPr/>
        </p:nvSpPr>
        <p:spPr>
          <a:xfrm>
            <a:off x="1526217" y="2746023"/>
            <a:ext cx="7908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7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br>
              <a:rPr b="1" i="0" lang="en-US" sz="1017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17" u="none" cap="none" strike="noStrike">
                <a:solidFill>
                  <a:srgbClr val="23538C"/>
                </a:solidFill>
                <a:latin typeface="Arial"/>
                <a:ea typeface="Arial"/>
                <a:cs typeface="Arial"/>
                <a:sym typeface="Arial"/>
              </a:rPr>
              <a:t>1,006 rows</a:t>
            </a:r>
            <a:endParaRPr sz="1187"/>
          </a:p>
        </p:txBody>
      </p:sp>
      <p:sp>
        <p:nvSpPr>
          <p:cNvPr id="379" name="Google Shape;379;p8"/>
          <p:cNvSpPr txBox="1"/>
          <p:nvPr/>
        </p:nvSpPr>
        <p:spPr>
          <a:xfrm>
            <a:off x="681226" y="3401026"/>
            <a:ext cx="15891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5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Out-of-time validation using</a:t>
            </a:r>
            <a:br>
              <a:rPr b="0" i="0" lang="en-US" sz="805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5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a temporal split.</a:t>
            </a:r>
            <a:endParaRPr sz="1187"/>
          </a:p>
        </p:txBody>
      </p:sp>
      <p:sp>
        <p:nvSpPr>
          <p:cNvPr id="380" name="Google Shape;380;p8"/>
          <p:cNvSpPr txBox="1"/>
          <p:nvPr/>
        </p:nvSpPr>
        <p:spPr>
          <a:xfrm>
            <a:off x="657969" y="3869870"/>
            <a:ext cx="16281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8">
                <a:solidFill>
                  <a:srgbClr val="123A69"/>
                </a:solidFill>
              </a:rPr>
              <a:t>Train–test performance is compared to assess generalization and potential overfitting.</a:t>
            </a:r>
            <a:endParaRPr sz="1187"/>
          </a:p>
        </p:txBody>
      </p:sp>
      <p:sp>
        <p:nvSpPr>
          <p:cNvPr id="381" name="Google Shape;381;p8"/>
          <p:cNvSpPr/>
          <p:nvPr/>
        </p:nvSpPr>
        <p:spPr>
          <a:xfrm>
            <a:off x="2596023" y="2116432"/>
            <a:ext cx="4457700" cy="244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750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 txBox="1"/>
          <p:nvPr/>
        </p:nvSpPr>
        <p:spPr>
          <a:xfrm>
            <a:off x="2709196" y="2215126"/>
            <a:ext cx="41088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RQ4 TRAIN vs TEST PERFORMANCE (LOG SCALE)</a:t>
            </a:r>
            <a:endParaRPr sz="1187"/>
          </a:p>
        </p:txBody>
      </p:sp>
      <p:sp>
        <p:nvSpPr>
          <p:cNvPr id="383" name="Google Shape;383;p8"/>
          <p:cNvSpPr/>
          <p:nvPr/>
        </p:nvSpPr>
        <p:spPr>
          <a:xfrm>
            <a:off x="2662683" y="2539180"/>
            <a:ext cx="8916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2678187" y="2552970"/>
            <a:ext cx="860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187"/>
          </a:p>
        </p:txBody>
      </p:sp>
      <p:sp>
        <p:nvSpPr>
          <p:cNvPr id="385" name="Google Shape;385;p8"/>
          <p:cNvSpPr/>
          <p:nvPr/>
        </p:nvSpPr>
        <p:spPr>
          <a:xfrm>
            <a:off x="3554187" y="2539180"/>
            <a:ext cx="5658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3569692" y="2552970"/>
            <a:ext cx="534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187"/>
          </a:p>
        </p:txBody>
      </p:sp>
      <p:sp>
        <p:nvSpPr>
          <p:cNvPr id="387" name="Google Shape;387;p8"/>
          <p:cNvSpPr/>
          <p:nvPr/>
        </p:nvSpPr>
        <p:spPr>
          <a:xfrm>
            <a:off x="4120099" y="2539180"/>
            <a:ext cx="5658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135603" y="2552970"/>
            <a:ext cx="534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MAE</a:t>
            </a:r>
            <a:endParaRPr sz="1187"/>
          </a:p>
        </p:txBody>
      </p:sp>
      <p:sp>
        <p:nvSpPr>
          <p:cNvPr id="389" name="Google Shape;389;p8"/>
          <p:cNvSpPr/>
          <p:nvPr/>
        </p:nvSpPr>
        <p:spPr>
          <a:xfrm>
            <a:off x="4686011" y="2539180"/>
            <a:ext cx="6048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701515" y="2552970"/>
            <a:ext cx="573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187"/>
          </a:p>
        </p:txBody>
      </p:sp>
      <p:sp>
        <p:nvSpPr>
          <p:cNvPr id="391" name="Google Shape;391;p8"/>
          <p:cNvSpPr/>
          <p:nvPr/>
        </p:nvSpPr>
        <p:spPr>
          <a:xfrm>
            <a:off x="5290683" y="2539180"/>
            <a:ext cx="6048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 txBox="1"/>
          <p:nvPr/>
        </p:nvSpPr>
        <p:spPr>
          <a:xfrm>
            <a:off x="5306188" y="2552970"/>
            <a:ext cx="573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RMSE</a:t>
            </a:r>
            <a:endParaRPr sz="1187"/>
          </a:p>
        </p:txBody>
      </p:sp>
      <p:sp>
        <p:nvSpPr>
          <p:cNvPr id="393" name="Google Shape;393;p8"/>
          <p:cNvSpPr/>
          <p:nvPr/>
        </p:nvSpPr>
        <p:spPr>
          <a:xfrm>
            <a:off x="5895356" y="2539180"/>
            <a:ext cx="5427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10861" y="2552970"/>
            <a:ext cx="511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1187"/>
          </a:p>
        </p:txBody>
      </p:sp>
      <p:sp>
        <p:nvSpPr>
          <p:cNvPr id="395" name="Google Shape;395;p8"/>
          <p:cNvSpPr/>
          <p:nvPr/>
        </p:nvSpPr>
        <p:spPr>
          <a:xfrm>
            <a:off x="6438011" y="2539180"/>
            <a:ext cx="542700" cy="330900"/>
          </a:xfrm>
          <a:prstGeom prst="rect">
            <a:avLst/>
          </a:prstGeom>
          <a:solidFill>
            <a:srgbClr val="123A69"/>
          </a:solidFill>
          <a:ln cap="flat" cmpd="sng" w="8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8"/>
          <p:cNvSpPr txBox="1"/>
          <p:nvPr/>
        </p:nvSpPr>
        <p:spPr>
          <a:xfrm>
            <a:off x="6453516" y="2552970"/>
            <a:ext cx="511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b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R²</a:t>
            </a:r>
            <a:endParaRPr sz="1187"/>
          </a:p>
        </p:txBody>
      </p:sp>
      <p:sp>
        <p:nvSpPr>
          <p:cNvPr id="397" name="Google Shape;397;p8"/>
          <p:cNvSpPr/>
          <p:nvPr/>
        </p:nvSpPr>
        <p:spPr>
          <a:xfrm>
            <a:off x="2662683" y="2870129"/>
            <a:ext cx="8916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2678187" y="2883918"/>
            <a:ext cx="8607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b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sz="1187"/>
          </a:p>
        </p:txBody>
      </p:sp>
      <p:sp>
        <p:nvSpPr>
          <p:cNvPr id="399" name="Google Shape;399;p8"/>
          <p:cNvSpPr/>
          <p:nvPr/>
        </p:nvSpPr>
        <p:spPr>
          <a:xfrm>
            <a:off x="3554187" y="2870129"/>
            <a:ext cx="565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 txBox="1"/>
          <p:nvPr/>
        </p:nvSpPr>
        <p:spPr>
          <a:xfrm>
            <a:off x="3569692" y="2883918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0.7767</a:t>
            </a:r>
            <a:endParaRPr sz="1187"/>
          </a:p>
        </p:txBody>
      </p:sp>
      <p:sp>
        <p:nvSpPr>
          <p:cNvPr id="401" name="Google Shape;401;p8"/>
          <p:cNvSpPr/>
          <p:nvPr/>
        </p:nvSpPr>
        <p:spPr>
          <a:xfrm>
            <a:off x="4120099" y="2870129"/>
            <a:ext cx="565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4135603" y="2883918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0.8036</a:t>
            </a:r>
            <a:endParaRPr sz="1187"/>
          </a:p>
        </p:txBody>
      </p:sp>
      <p:sp>
        <p:nvSpPr>
          <p:cNvPr id="403" name="Google Shape;403;p8"/>
          <p:cNvSpPr/>
          <p:nvPr/>
        </p:nvSpPr>
        <p:spPr>
          <a:xfrm>
            <a:off x="4686011" y="2870129"/>
            <a:ext cx="604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 txBox="1"/>
          <p:nvPr/>
        </p:nvSpPr>
        <p:spPr>
          <a:xfrm>
            <a:off x="4701515" y="2883918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1.0627</a:t>
            </a:r>
            <a:endParaRPr sz="1187"/>
          </a:p>
        </p:txBody>
      </p:sp>
      <p:sp>
        <p:nvSpPr>
          <p:cNvPr id="405" name="Google Shape;405;p8"/>
          <p:cNvSpPr/>
          <p:nvPr/>
        </p:nvSpPr>
        <p:spPr>
          <a:xfrm>
            <a:off x="5290683" y="2870129"/>
            <a:ext cx="604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5306188" y="2883918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1.0821</a:t>
            </a:r>
            <a:endParaRPr sz="1187"/>
          </a:p>
        </p:txBody>
      </p:sp>
      <p:sp>
        <p:nvSpPr>
          <p:cNvPr id="407" name="Google Shape;407;p8"/>
          <p:cNvSpPr/>
          <p:nvPr/>
        </p:nvSpPr>
        <p:spPr>
          <a:xfrm>
            <a:off x="5895356" y="2870129"/>
            <a:ext cx="5427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 txBox="1"/>
          <p:nvPr/>
        </p:nvSpPr>
        <p:spPr>
          <a:xfrm>
            <a:off x="5910861" y="2883918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0.7749</a:t>
            </a:r>
            <a:endParaRPr sz="1187"/>
          </a:p>
        </p:txBody>
      </p:sp>
      <p:sp>
        <p:nvSpPr>
          <p:cNvPr id="409" name="Google Shape;409;p8"/>
          <p:cNvSpPr/>
          <p:nvPr/>
        </p:nvSpPr>
        <p:spPr>
          <a:xfrm>
            <a:off x="6438011" y="2870129"/>
            <a:ext cx="5427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6453516" y="2883918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0.7710</a:t>
            </a:r>
            <a:endParaRPr sz="1187"/>
          </a:p>
        </p:txBody>
      </p:sp>
      <p:sp>
        <p:nvSpPr>
          <p:cNvPr id="411" name="Google Shape;411;p8"/>
          <p:cNvSpPr/>
          <p:nvPr/>
        </p:nvSpPr>
        <p:spPr>
          <a:xfrm>
            <a:off x="2662683" y="3228656"/>
            <a:ext cx="8916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2678187" y="3242445"/>
            <a:ext cx="860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187"/>
          </a:p>
        </p:txBody>
      </p:sp>
      <p:sp>
        <p:nvSpPr>
          <p:cNvPr id="413" name="Google Shape;413;p8"/>
          <p:cNvSpPr/>
          <p:nvPr/>
        </p:nvSpPr>
        <p:spPr>
          <a:xfrm>
            <a:off x="3554187" y="3228656"/>
            <a:ext cx="5658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8"/>
          <p:cNvSpPr txBox="1"/>
          <p:nvPr/>
        </p:nvSpPr>
        <p:spPr>
          <a:xfrm>
            <a:off x="3569692" y="3242445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0.1702</a:t>
            </a:r>
            <a:endParaRPr sz="1187"/>
          </a:p>
        </p:txBody>
      </p:sp>
      <p:sp>
        <p:nvSpPr>
          <p:cNvPr id="415" name="Google Shape;415;p8"/>
          <p:cNvSpPr/>
          <p:nvPr/>
        </p:nvSpPr>
        <p:spPr>
          <a:xfrm>
            <a:off x="4120099" y="3228656"/>
            <a:ext cx="5658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8"/>
          <p:cNvSpPr txBox="1"/>
          <p:nvPr/>
        </p:nvSpPr>
        <p:spPr>
          <a:xfrm>
            <a:off x="4135603" y="3242445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0.3181</a:t>
            </a:r>
            <a:endParaRPr sz="1187"/>
          </a:p>
        </p:txBody>
      </p:sp>
      <p:sp>
        <p:nvSpPr>
          <p:cNvPr id="417" name="Google Shape;417;p8"/>
          <p:cNvSpPr/>
          <p:nvPr/>
        </p:nvSpPr>
        <p:spPr>
          <a:xfrm>
            <a:off x="4686011" y="3228656"/>
            <a:ext cx="6048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8"/>
          <p:cNvSpPr txBox="1"/>
          <p:nvPr/>
        </p:nvSpPr>
        <p:spPr>
          <a:xfrm>
            <a:off x="4701515" y="3242445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0.3386</a:t>
            </a:r>
            <a:endParaRPr sz="1187"/>
          </a:p>
        </p:txBody>
      </p:sp>
      <p:sp>
        <p:nvSpPr>
          <p:cNvPr id="419" name="Google Shape;419;p8"/>
          <p:cNvSpPr/>
          <p:nvPr/>
        </p:nvSpPr>
        <p:spPr>
          <a:xfrm>
            <a:off x="5290683" y="3228656"/>
            <a:ext cx="6048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8"/>
          <p:cNvSpPr txBox="1"/>
          <p:nvPr/>
        </p:nvSpPr>
        <p:spPr>
          <a:xfrm>
            <a:off x="5306188" y="3242445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0.6299</a:t>
            </a:r>
            <a:endParaRPr sz="1187"/>
          </a:p>
        </p:txBody>
      </p:sp>
      <p:sp>
        <p:nvSpPr>
          <p:cNvPr id="421" name="Google Shape;421;p8"/>
          <p:cNvSpPr/>
          <p:nvPr/>
        </p:nvSpPr>
        <p:spPr>
          <a:xfrm>
            <a:off x="5895356" y="3228656"/>
            <a:ext cx="5427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8"/>
          <p:cNvSpPr txBox="1"/>
          <p:nvPr/>
        </p:nvSpPr>
        <p:spPr>
          <a:xfrm>
            <a:off x="5910861" y="3242445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0.9771</a:t>
            </a:r>
            <a:endParaRPr sz="1187"/>
          </a:p>
        </p:txBody>
      </p:sp>
      <p:sp>
        <p:nvSpPr>
          <p:cNvPr id="423" name="Google Shape;423;p8"/>
          <p:cNvSpPr/>
          <p:nvPr/>
        </p:nvSpPr>
        <p:spPr>
          <a:xfrm>
            <a:off x="6438011" y="3228656"/>
            <a:ext cx="542700" cy="358500"/>
          </a:xfrm>
          <a:prstGeom prst="rect">
            <a:avLst/>
          </a:prstGeom>
          <a:solidFill>
            <a:srgbClr val="E8F7EF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8"/>
          <p:cNvSpPr txBox="1"/>
          <p:nvPr/>
        </p:nvSpPr>
        <p:spPr>
          <a:xfrm>
            <a:off x="6453516" y="3242445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1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0.9224</a:t>
            </a:r>
            <a:endParaRPr sz="1187"/>
          </a:p>
        </p:txBody>
      </p:sp>
      <p:sp>
        <p:nvSpPr>
          <p:cNvPr id="425" name="Google Shape;425;p8"/>
          <p:cNvSpPr/>
          <p:nvPr/>
        </p:nvSpPr>
        <p:spPr>
          <a:xfrm>
            <a:off x="2662683" y="3587184"/>
            <a:ext cx="8916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8"/>
          <p:cNvSpPr txBox="1"/>
          <p:nvPr/>
        </p:nvSpPr>
        <p:spPr>
          <a:xfrm>
            <a:off x="2678187" y="3600974"/>
            <a:ext cx="8607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1187"/>
          </a:p>
        </p:txBody>
      </p:sp>
      <p:sp>
        <p:nvSpPr>
          <p:cNvPr id="427" name="Google Shape;427;p8"/>
          <p:cNvSpPr/>
          <p:nvPr/>
        </p:nvSpPr>
        <p:spPr>
          <a:xfrm>
            <a:off x="3554187" y="3587184"/>
            <a:ext cx="565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8"/>
          <p:cNvSpPr txBox="1"/>
          <p:nvPr/>
        </p:nvSpPr>
        <p:spPr>
          <a:xfrm>
            <a:off x="3569692" y="3600974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0.2305</a:t>
            </a:r>
            <a:endParaRPr sz="1187"/>
          </a:p>
        </p:txBody>
      </p:sp>
      <p:sp>
        <p:nvSpPr>
          <p:cNvPr id="429" name="Google Shape;429;p8"/>
          <p:cNvSpPr/>
          <p:nvPr/>
        </p:nvSpPr>
        <p:spPr>
          <a:xfrm>
            <a:off x="4120099" y="3587184"/>
            <a:ext cx="565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8"/>
          <p:cNvSpPr txBox="1"/>
          <p:nvPr/>
        </p:nvSpPr>
        <p:spPr>
          <a:xfrm>
            <a:off x="4135603" y="3600974"/>
            <a:ext cx="534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0.3267</a:t>
            </a:r>
            <a:endParaRPr sz="1187"/>
          </a:p>
        </p:txBody>
      </p:sp>
      <p:sp>
        <p:nvSpPr>
          <p:cNvPr id="431" name="Google Shape;431;p8"/>
          <p:cNvSpPr/>
          <p:nvPr/>
        </p:nvSpPr>
        <p:spPr>
          <a:xfrm>
            <a:off x="4686011" y="3587184"/>
            <a:ext cx="604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8"/>
          <p:cNvSpPr txBox="1"/>
          <p:nvPr/>
        </p:nvSpPr>
        <p:spPr>
          <a:xfrm>
            <a:off x="4701515" y="3600974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0.3648</a:t>
            </a:r>
            <a:endParaRPr sz="1187"/>
          </a:p>
        </p:txBody>
      </p:sp>
      <p:sp>
        <p:nvSpPr>
          <p:cNvPr id="433" name="Google Shape;433;p8"/>
          <p:cNvSpPr/>
          <p:nvPr/>
        </p:nvSpPr>
        <p:spPr>
          <a:xfrm>
            <a:off x="5290683" y="3587184"/>
            <a:ext cx="6048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"/>
          <p:cNvSpPr txBox="1"/>
          <p:nvPr/>
        </p:nvSpPr>
        <p:spPr>
          <a:xfrm>
            <a:off x="5306188" y="3600974"/>
            <a:ext cx="5736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0.6602</a:t>
            </a:r>
            <a:endParaRPr sz="1187"/>
          </a:p>
        </p:txBody>
      </p:sp>
      <p:sp>
        <p:nvSpPr>
          <p:cNvPr id="435" name="Google Shape;435;p8"/>
          <p:cNvSpPr/>
          <p:nvPr/>
        </p:nvSpPr>
        <p:spPr>
          <a:xfrm>
            <a:off x="5895356" y="3587184"/>
            <a:ext cx="5427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8"/>
          <p:cNvSpPr txBox="1"/>
          <p:nvPr/>
        </p:nvSpPr>
        <p:spPr>
          <a:xfrm>
            <a:off x="5910861" y="3600974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0.9735</a:t>
            </a:r>
            <a:endParaRPr sz="1187"/>
          </a:p>
        </p:txBody>
      </p:sp>
      <p:sp>
        <p:nvSpPr>
          <p:cNvPr id="437" name="Google Shape;437;p8"/>
          <p:cNvSpPr/>
          <p:nvPr/>
        </p:nvSpPr>
        <p:spPr>
          <a:xfrm>
            <a:off x="6438011" y="3587184"/>
            <a:ext cx="542700" cy="358500"/>
          </a:xfrm>
          <a:prstGeom prst="rect">
            <a:avLst/>
          </a:prstGeom>
          <a:solidFill>
            <a:srgbClr val="F8FAFD"/>
          </a:solidFill>
          <a:ln cap="flat" cmpd="sng" w="8075">
            <a:solidFill>
              <a:srgbClr val="C8D2DC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"/>
          <p:cNvSpPr txBox="1"/>
          <p:nvPr/>
        </p:nvSpPr>
        <p:spPr>
          <a:xfrm>
            <a:off x="6453516" y="3600974"/>
            <a:ext cx="5115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1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0.9148</a:t>
            </a:r>
            <a:endParaRPr sz="1187"/>
          </a:p>
        </p:txBody>
      </p:sp>
      <p:sp>
        <p:nvSpPr>
          <p:cNvPr id="439" name="Google Shape;439;p8"/>
          <p:cNvSpPr txBox="1"/>
          <p:nvPr/>
        </p:nvSpPr>
        <p:spPr>
          <a:xfrm>
            <a:off x="2709196" y="4056028"/>
            <a:ext cx="41088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" u="none" cap="none" strike="noStrike">
                <a:solidFill>
                  <a:srgbClr val="16784C"/>
                </a:solidFill>
                <a:latin typeface="Arial"/>
                <a:ea typeface="Arial"/>
                <a:cs typeface="Arial"/>
                <a:sym typeface="Arial"/>
              </a:rPr>
              <a:t>Random Forest: lowest Test RMSE (.6299) and highest Test R² (.9224).</a:t>
            </a:r>
            <a:endParaRPr sz="1187"/>
          </a:p>
        </p:txBody>
      </p:sp>
      <p:sp>
        <p:nvSpPr>
          <p:cNvPr id="440" name="Google Shape;440;p8"/>
          <p:cNvSpPr/>
          <p:nvPr/>
        </p:nvSpPr>
        <p:spPr>
          <a:xfrm>
            <a:off x="7169830" y="2125494"/>
            <a:ext cx="1744200" cy="2447400"/>
          </a:xfrm>
          <a:prstGeom prst="roundRect">
            <a:avLst>
              <a:gd fmla="val 16667" name="adj"/>
            </a:avLst>
          </a:prstGeom>
          <a:solidFill>
            <a:srgbClr val="FFF9EF"/>
          </a:solidFill>
          <a:ln cap="flat" cmpd="sng" w="10750">
            <a:solidFill>
              <a:srgbClr val="E2C28A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7324874" y="2215126"/>
            <a:ext cx="14340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3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187"/>
          </a:p>
        </p:txBody>
      </p:sp>
      <p:sp>
        <p:nvSpPr>
          <p:cNvPr id="442" name="Google Shape;442;p8"/>
          <p:cNvSpPr txBox="1"/>
          <p:nvPr/>
        </p:nvSpPr>
        <p:spPr>
          <a:xfrm>
            <a:off x="7340375" y="2559874"/>
            <a:ext cx="1573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750" lIns="77500" spcFirstLastPara="1" rIns="77500" wrap="square" tIns="38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2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• RF shows a train–test gap, indicating some overfitting.</a:t>
            </a:r>
            <a:endParaRPr sz="1187"/>
          </a:p>
        </p:txBody>
      </p:sp>
      <p:sp>
        <p:nvSpPr>
          <p:cNvPr id="443" name="Google Shape;443;p8"/>
          <p:cNvSpPr txBox="1"/>
          <p:nvPr/>
        </p:nvSpPr>
        <p:spPr>
          <a:xfrm>
            <a:off x="7340375" y="3021825"/>
            <a:ext cx="1491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750" lIns="77500" spcFirstLastPara="1" rIns="77500" wrap="square" tIns="38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2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• Despite the gap, RF retains strong out-of-time generalization.</a:t>
            </a:r>
            <a:endParaRPr sz="1187"/>
          </a:p>
        </p:txBody>
      </p:sp>
      <p:sp>
        <p:nvSpPr>
          <p:cNvPr id="444" name="Google Shape;444;p8"/>
          <p:cNvSpPr txBox="1"/>
          <p:nvPr/>
        </p:nvSpPr>
        <p:spPr>
          <a:xfrm>
            <a:off x="7340375" y="3483775"/>
            <a:ext cx="1491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750" lIns="77500" spcFirstLastPara="1" rIns="77500" wrap="square" tIns="38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2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• XGBoost is close, but RF remains the best test performer.</a:t>
            </a:r>
            <a:endParaRPr sz="1187"/>
          </a:p>
        </p:txBody>
      </p:sp>
      <p:sp>
        <p:nvSpPr>
          <p:cNvPr id="445" name="Google Shape;445;p8"/>
          <p:cNvSpPr txBox="1"/>
          <p:nvPr/>
        </p:nvSpPr>
        <p:spPr>
          <a:xfrm>
            <a:off x="7340375" y="3945700"/>
            <a:ext cx="1491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750" lIns="77500" spcFirstLastPara="1" rIns="77500" wrap="square" tIns="387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2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• Linear Regression is stable but weaker than nonlinear models.</a:t>
            </a:r>
            <a:endParaRPr sz="1187"/>
          </a:p>
        </p:txBody>
      </p:sp>
      <p:sp>
        <p:nvSpPr>
          <p:cNvPr id="446" name="Google Shape;446;p8"/>
          <p:cNvSpPr/>
          <p:nvPr/>
        </p:nvSpPr>
        <p:spPr>
          <a:xfrm>
            <a:off x="502925" y="4724821"/>
            <a:ext cx="8411400" cy="330900"/>
          </a:xfrm>
          <a:prstGeom prst="roundRect">
            <a:avLst>
              <a:gd fmla="val 16667" name="adj"/>
            </a:avLst>
          </a:prstGeom>
          <a:solidFill>
            <a:srgbClr val="FFF9EF"/>
          </a:solidFill>
          <a:ln cap="flat" cmpd="sng" w="10750">
            <a:solidFill>
              <a:srgbClr val="E2C28A"/>
            </a:solidFill>
            <a:prstDash val="solid"/>
            <a:round/>
            <a:headEnd len="sm" w="sm" type="none"/>
            <a:tailEnd len="sm" w="sm" type="none"/>
          </a:ln>
          <a:effectLst>
            <a:outerShdw blurRad="33912" rotWithShape="0" dir="5400000" dist="19499">
              <a:srgbClr val="000000">
                <a:alpha val="34902"/>
              </a:srgbClr>
            </a:outerShdw>
          </a:effectLst>
        </p:spPr>
        <p:txBody>
          <a:bodyPr anchorCtr="0" anchor="ctr" bIns="38750" lIns="77500" spcFirstLastPara="1" rIns="77500" wrap="square" tIns="38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8"/>
          <p:cNvSpPr txBox="1"/>
          <p:nvPr/>
        </p:nvSpPr>
        <p:spPr>
          <a:xfrm>
            <a:off x="634713" y="4801246"/>
            <a:ext cx="8139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750" lIns="77500" spcFirstLastPara="1" rIns="77500" wrap="square" tIns="387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79" u="none" cap="none" strike="noStrike">
                <a:solidFill>
                  <a:srgbClr val="123A69"/>
                </a:solidFill>
                <a:latin typeface="Arial"/>
                <a:ea typeface="Arial"/>
                <a:cs typeface="Arial"/>
                <a:sym typeface="Arial"/>
              </a:rPr>
              <a:t>Integrated decision output: 231 country–commodity opportunities ranked by EMAS • 13 Priority opportunities • #1 China–HS85 = 87.103</a:t>
            </a:r>
            <a:endParaRPr sz="1187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"/>
          <p:cNvSpPr txBox="1"/>
          <p:nvPr>
            <p:ph type="title"/>
          </p:nvPr>
        </p:nvSpPr>
        <p:spPr>
          <a:xfrm>
            <a:off x="729450" y="1241754"/>
            <a:ext cx="76887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b="1" lang="en-US" sz="17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Implementation and User Benefit</a:t>
            </a:r>
            <a:endParaRPr sz="1700"/>
          </a:p>
        </p:txBody>
      </p:sp>
      <p:sp>
        <p:nvSpPr>
          <p:cNvPr id="453" name="Google Shape;453;p9"/>
          <p:cNvSpPr txBox="1"/>
          <p:nvPr/>
        </p:nvSpPr>
        <p:spPr>
          <a:xfrm>
            <a:off x="594350" y="3539075"/>
            <a:ext cx="8265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Target users — Indian exporters, export-promotion teams and analysts conducting first-stage international market screening.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Select a commodity or destination and review EMAS score, rank, recommendation tier and robustness.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Inspect component scores to understand demand, economic strength, India opportunity and supplier competition behind each rank.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Use Priority and Strong tiers to focus expensive tariff, distributor, logistics, pricing and regulatory due diligence on fewer markets.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Deployment path — reproducible Python/GitHub workflow today; CSV/Excel output can feed a future Power BI or Streamlit dashboard.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594350" y="1713425"/>
            <a:ext cx="1505400" cy="169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594350" y="1713425"/>
            <a:ext cx="54600" cy="1698000"/>
          </a:xfrm>
          <a:prstGeom prst="rect">
            <a:avLst/>
          </a:prstGeom>
          <a:solidFill>
            <a:srgbClr val="2368A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9"/>
          <p:cNvSpPr txBox="1"/>
          <p:nvPr/>
        </p:nvSpPr>
        <p:spPr>
          <a:xfrm>
            <a:off x="765407" y="1810461"/>
            <a:ext cx="11973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368A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Choose an HS chapter or destination.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2318600" y="1713425"/>
            <a:ext cx="1505400" cy="169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2318600" y="1713425"/>
            <a:ext cx="54600" cy="1698000"/>
          </a:xfrm>
          <a:prstGeom prst="rect">
            <a:avLst/>
          </a:prstGeom>
          <a:solidFill>
            <a:srgbClr val="1F939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9"/>
          <p:cNvSpPr txBox="1"/>
          <p:nvPr/>
        </p:nvSpPr>
        <p:spPr>
          <a:xfrm>
            <a:off x="2489657" y="1810461"/>
            <a:ext cx="119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Rank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F939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Review EMAS score, rank and recommendation tier.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4042850" y="1713425"/>
            <a:ext cx="1505400" cy="169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4042850" y="1713425"/>
            <a:ext cx="54600" cy="1698000"/>
          </a:xfrm>
          <a:prstGeom prst="rect">
            <a:avLst/>
          </a:prstGeom>
          <a:solidFill>
            <a:srgbClr val="E5A63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9"/>
          <p:cNvSpPr txBox="1"/>
          <p:nvPr/>
        </p:nvSpPr>
        <p:spPr>
          <a:xfrm>
            <a:off x="4213907" y="1810461"/>
            <a:ext cx="1197300" cy="14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5A63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Inspect demand, India share, competition and economic-strength components.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5767100" y="1713425"/>
            <a:ext cx="1505400" cy="169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5767100" y="1713425"/>
            <a:ext cx="54600" cy="1698000"/>
          </a:xfrm>
          <a:prstGeom prst="rect">
            <a:avLst/>
          </a:prstGeom>
          <a:solidFill>
            <a:srgbClr val="32915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9"/>
          <p:cNvSpPr txBox="1"/>
          <p:nvPr/>
        </p:nvSpPr>
        <p:spPr>
          <a:xfrm>
            <a:off x="5938157" y="1810461"/>
            <a:ext cx="11973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Stress-test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291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Check robustness under alternative weight scenarios.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7491350" y="1713425"/>
            <a:ext cx="1505400" cy="169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7491350" y="1713425"/>
            <a:ext cx="54600" cy="1698000"/>
          </a:xfrm>
          <a:prstGeom prst="rect">
            <a:avLst/>
          </a:prstGeom>
          <a:solidFill>
            <a:srgbClr val="0D22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9"/>
          <p:cNvSpPr txBox="1"/>
          <p:nvPr/>
        </p:nvSpPr>
        <p:spPr>
          <a:xfrm>
            <a:off x="7662407" y="1810461"/>
            <a:ext cx="11973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22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77788"/>
                </a:solidFill>
                <a:latin typeface="Calibri"/>
                <a:ea typeface="Calibri"/>
                <a:cs typeface="Calibri"/>
                <a:sym typeface="Calibri"/>
              </a:rPr>
              <a:t>Shortlist 2–3 markets for tariff, logistics, pricing, distributor and regulatory due diligence.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0"/>
          <p:cNvSpPr txBox="1"/>
          <p:nvPr>
            <p:ph type="title"/>
          </p:nvPr>
        </p:nvSpPr>
        <p:spPr>
          <a:xfrm>
            <a:off x="729450" y="1247425"/>
            <a:ext cx="7688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b="1" lang="en-US" sz="17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700"/>
          </a:p>
        </p:txBody>
      </p:sp>
      <p:sp>
        <p:nvSpPr>
          <p:cNvPr id="474" name="Google Shape;474;p10"/>
          <p:cNvSpPr/>
          <p:nvPr/>
        </p:nvSpPr>
        <p:spPr>
          <a:xfrm>
            <a:off x="731520" y="1831664"/>
            <a:ext cx="2331600" cy="103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731520" y="1831664"/>
            <a:ext cx="41100" cy="1038000"/>
          </a:xfrm>
          <a:prstGeom prst="rect">
            <a:avLst/>
          </a:prstGeom>
          <a:solidFill>
            <a:srgbClr val="266FA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850392" y="1935491"/>
            <a:ext cx="21213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CORE FINDING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 txBox="1"/>
          <p:nvPr/>
        </p:nvSpPr>
        <p:spPr>
          <a:xfrm>
            <a:off x="850392" y="2195061"/>
            <a:ext cx="212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6FA8"/>
                </a:solidFill>
                <a:latin typeface="Arial"/>
                <a:ea typeface="Arial"/>
                <a:cs typeface="Arial"/>
                <a:sym typeface="Arial"/>
              </a:rPr>
              <a:t>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0"/>
          <p:cNvSpPr txBox="1"/>
          <p:nvPr/>
        </p:nvSpPr>
        <p:spPr>
          <a:xfrm>
            <a:off x="850392" y="2512710"/>
            <a:ext cx="2121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Opportunity cannot be judged by market size or growth alone.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3401568" y="1831664"/>
            <a:ext cx="2331600" cy="103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3401568" y="1831664"/>
            <a:ext cx="41100" cy="1038000"/>
          </a:xfrm>
          <a:prstGeom prst="rect">
            <a:avLst/>
          </a:prstGeom>
          <a:solidFill>
            <a:srgbClr val="43916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0"/>
          <p:cNvSpPr txBox="1"/>
          <p:nvPr/>
        </p:nvSpPr>
        <p:spPr>
          <a:xfrm>
            <a:off x="3520440" y="1935491"/>
            <a:ext cx="21213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BUSINESS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0"/>
          <p:cNvSpPr txBox="1"/>
          <p:nvPr/>
        </p:nvSpPr>
        <p:spPr>
          <a:xfrm>
            <a:off x="3520440" y="2195061"/>
            <a:ext cx="212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39164"/>
                </a:solidFill>
                <a:latin typeface="Arial"/>
                <a:ea typeface="Arial"/>
                <a:cs typeface="Arial"/>
                <a:sym typeface="Arial"/>
              </a:rPr>
              <a:t>13 Priority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"/>
          <p:cNvSpPr txBox="1"/>
          <p:nvPr/>
        </p:nvSpPr>
        <p:spPr>
          <a:xfrm>
            <a:off x="3520440" y="2521254"/>
            <a:ext cx="21213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Consensus opportunities remain robust across all five scenarios.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6071616" y="1831664"/>
            <a:ext cx="2331600" cy="1038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1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6071616" y="1831664"/>
            <a:ext cx="41100" cy="1038000"/>
          </a:xfrm>
          <a:prstGeom prst="rect">
            <a:avLst/>
          </a:prstGeom>
          <a:solidFill>
            <a:srgbClr val="35A6A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0"/>
          <p:cNvSpPr txBox="1"/>
          <p:nvPr/>
        </p:nvSpPr>
        <p:spPr>
          <a:xfrm>
            <a:off x="6190488" y="1935491"/>
            <a:ext cx="21213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97077"/>
                </a:solidFill>
                <a:latin typeface="Arial"/>
                <a:ea typeface="Arial"/>
                <a:cs typeface="Arial"/>
                <a:sym typeface="Arial"/>
              </a:rPr>
              <a:t>TOP MARKET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0"/>
          <p:cNvSpPr txBox="1"/>
          <p:nvPr/>
        </p:nvSpPr>
        <p:spPr>
          <a:xfrm>
            <a:off x="6190488" y="2195061"/>
            <a:ext cx="21213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5A6A0"/>
                </a:solidFill>
                <a:latin typeface="Arial"/>
                <a:ea typeface="Arial"/>
                <a:cs typeface="Arial"/>
                <a:sym typeface="Arial"/>
              </a:rPr>
              <a:t>China–HS85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0"/>
          <p:cNvSpPr txBox="1"/>
          <p:nvPr/>
        </p:nvSpPr>
        <p:spPr>
          <a:xfrm>
            <a:off x="6190488" y="2546886"/>
            <a:ext cx="21213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Highest final EMAS score: 87.103.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 txBox="1"/>
          <p:nvPr/>
        </p:nvSpPr>
        <p:spPr>
          <a:xfrm>
            <a:off x="822960" y="3182112"/>
            <a:ext cx="7406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0"/>
          <p:cNvSpPr txBox="1"/>
          <p:nvPr/>
        </p:nvSpPr>
        <p:spPr>
          <a:xfrm>
            <a:off x="914400" y="3474720"/>
            <a:ext cx="73152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Limitations: historical dependence, judgment-based weights, </a:t>
            </a:r>
            <a:r>
              <a:rPr b="0" i="0" lang="en-US" sz="96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and omitted tariffs</a:t>
            </a:r>
            <a:r>
              <a:rPr b="0" i="0" lang="en-US" sz="96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, logistics, political risk, pricing and firm readiness.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Future work: add trade agreements and market-entry costs, expand detailed HS coverage and time history and </a:t>
            </a:r>
            <a:r>
              <a:rPr lang="en-US" sz="960">
                <a:solidFill>
                  <a:srgbClr val="1F2C37"/>
                </a:solidFill>
              </a:rPr>
              <a:t>include</a:t>
            </a:r>
            <a:r>
              <a:rPr lang="en-US" sz="960">
                <a:solidFill>
                  <a:srgbClr val="1F2C37"/>
                </a:solidFill>
              </a:rPr>
              <a:t> tarrifs</a:t>
            </a:r>
            <a:r>
              <a:rPr b="0" i="0" lang="en-US" sz="960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, and automate data refresh.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2047"/>
              <a:buNone/>
            </a:pPr>
            <a:r>
              <a:rPr b="1" lang="en-US" sz="1900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Bibliography</a:t>
            </a:r>
            <a:endParaRPr/>
          </a:p>
        </p:txBody>
      </p:sp>
      <p:sp>
        <p:nvSpPr>
          <p:cNvPr id="496" name="Google Shape;496;p11"/>
          <p:cNvSpPr txBox="1"/>
          <p:nvPr/>
        </p:nvSpPr>
        <p:spPr>
          <a:xfrm>
            <a:off x="822960" y="1874519"/>
            <a:ext cx="7498079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Andersen, P. H., &amp; Strandskov, J. (1998). International market selection: A cognitive mapping perspective. Journal of Global Marketing, 11(3), 65–84.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Decreux, Y., &amp; Spies, J. (2016). Export potential assessments: A methodology to identify export opportunities for developing countries. International Trade Centre.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Gaston-Breton, C., &amp; Martin Martin, O. (2011). International market selection and segmentation: A two-stage model. International Marketing Review, 28(3), 267–290.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Rhoades, S. A. (1993). The Herfindahl-Hirschman Index. Federal Reserve Bulletin, 79, 188–189.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Batarseh, F. A., Gopinath, M., Nalluru, G., &amp; Beckman, J. (2019). Application of machine learning in forecasting international trade trends. arXiv:1910.03112.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1F2C37"/>
                </a:solidFill>
                <a:latin typeface="Arial"/>
                <a:ea typeface="Arial"/>
                <a:cs typeface="Arial"/>
                <a:sym typeface="Arial"/>
              </a:rPr>
              <a:t>• Department of Commerce, Government of India. (2026). TradeStat.  |  United Nations Statistics Division. (2026). UN Comtrade Database.  |  World Bank. (2026). World Development Indicators.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a2679bc01_1_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840"/>
              <a:t>Appendix</a:t>
            </a:r>
            <a:endParaRPr sz="284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a2679bc01_1_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Appendix: HS27 Export Value Spike — 2022–2023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g3fa2679bc01_1_28"/>
          <p:cNvSpPr txBox="1"/>
          <p:nvPr>
            <p:ph idx="1" type="body"/>
          </p:nvPr>
        </p:nvSpPr>
        <p:spPr>
          <a:xfrm>
            <a:off x="5491650" y="2158000"/>
            <a:ext cx="2926500" cy="23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29257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HS27 shows a pronounced spike around 2022–23, consistent with the global energy-price shock and higher Indian refined-petroleum export earnings. As energy prices normalized, the export value subsequently declined.</a:t>
            </a:r>
            <a:endParaRPr/>
          </a:p>
          <a:p>
            <a:pPr indent="-292576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-US"/>
              <a:t>The spike is in export value, not necessarily export volume. HS27 is highly price-sensitive, so the global energy-price shock materially increased the dollar value of petroleum exports.</a:t>
            </a:r>
            <a:endParaRPr/>
          </a:p>
        </p:txBody>
      </p:sp>
      <p:pic>
        <p:nvPicPr>
          <p:cNvPr id="508" name="Google Shape;508;g3fa2679bc01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80775"/>
            <a:ext cx="4635676" cy="27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